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Raleway" charset="1" panose="020B0503030101060003"/>
      <p:regular r:id="rId22"/>
    </p:embeddedFont>
    <p:embeddedFont>
      <p:font typeface="Raleway Heavy" charset="1" panose="020B0003030101060003"/>
      <p:regular r:id="rId23"/>
    </p:embeddedFont>
    <p:embeddedFont>
      <p:font typeface="Raleway Bold" charset="1" panose="020B0803030101060003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8" Type="http://schemas.openxmlformats.org/officeDocument/2006/relationships/slide" Target="slides/slide3.xml"/><Relationship Id="rId26" Type="http://schemas.openxmlformats.org/officeDocument/2006/relationships/customXml" Target="../customXml/item2.xml"/><Relationship Id="rId21" Type="http://schemas.openxmlformats.org/officeDocument/2006/relationships/slide" Target="slides/slide16.xml"/><Relationship Id="rId3" Type="http://schemas.openxmlformats.org/officeDocument/2006/relationships/viewProps" Target="viewProps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7" Type="http://schemas.openxmlformats.org/officeDocument/2006/relationships/slide" Target="slides/slide2.xml"/><Relationship Id="rId25" Type="http://schemas.openxmlformats.org/officeDocument/2006/relationships/customXml" Target="../customXml/item1.xml"/><Relationship Id="rId16" Type="http://schemas.openxmlformats.org/officeDocument/2006/relationships/slide" Target="slides/slide11.xml"/><Relationship Id="rId2" Type="http://schemas.openxmlformats.org/officeDocument/2006/relationships/presProps" Target="presProps.xml"/><Relationship Id="rId20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24" Type="http://schemas.openxmlformats.org/officeDocument/2006/relationships/font" Target="fonts/font24.fntdata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font" Target="fonts/font23.fntdata"/><Relationship Id="rId5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font" Target="fonts/font22.fntdata"/><Relationship Id="rId4" Type="http://schemas.openxmlformats.org/officeDocument/2006/relationships/theme" Target="theme/theme1.xml"/><Relationship Id="rId9" Type="http://schemas.openxmlformats.org/officeDocument/2006/relationships/slide" Target="slides/slide4.xml"/><Relationship Id="rId27" Type="http://schemas.openxmlformats.org/officeDocument/2006/relationships/customXml" Target="../customXml/item3.xml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jpe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0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jpeg" Type="http://schemas.openxmlformats.org/officeDocument/2006/relationships/image"/><Relationship Id="rId4" Target="../media/image13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15.jpeg" Type="http://schemas.openxmlformats.org/officeDocument/2006/relationships/image"/><Relationship Id="rId4" Target="../media/image16.jpeg" Type="http://schemas.openxmlformats.org/officeDocument/2006/relationships/image"/><Relationship Id="rId5" Target="../media/image17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028700" y="1028700"/>
            <a:ext cx="9212388" cy="8229600"/>
          </a:xfrm>
          <a:custGeom>
            <a:avLst/>
            <a:gdLst/>
            <a:ahLst/>
            <a:cxnLst/>
            <a:rect r="r" b="b" t="t" l="l"/>
            <a:pathLst>
              <a:path h="8229600" w="9212388">
                <a:moveTo>
                  <a:pt x="9212388" y="0"/>
                </a:moveTo>
                <a:lnTo>
                  <a:pt x="0" y="0"/>
                </a:lnTo>
                <a:lnTo>
                  <a:pt x="0" y="8229600"/>
                </a:lnTo>
                <a:lnTo>
                  <a:pt x="9212388" y="8229600"/>
                </a:lnTo>
                <a:lnTo>
                  <a:pt x="9212388" y="0"/>
                </a:lnTo>
                <a:close/>
              </a:path>
            </a:pathLst>
          </a:custGeom>
          <a:blipFill>
            <a:blip r:embed="rId2"/>
            <a:stretch>
              <a:fillRect l="-16998" t="0" r="-16998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224505" y="9546643"/>
            <a:ext cx="5048214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99"/>
              </a:lnSpc>
            </a:pPr>
            <a:r>
              <a:rPr lang="en-US" sz="19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MSOE Hackthsgiving 2025 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5999085" y="3905833"/>
            <a:ext cx="12126990" cy="1806521"/>
            <a:chOff x="0" y="0"/>
            <a:chExt cx="16169319" cy="2408695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61925"/>
              <a:ext cx="16169319" cy="1666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000"/>
                </a:lnSpc>
              </a:pPr>
              <a:r>
                <a:rPr lang="en-US" sz="9000" b="true">
                  <a:solidFill>
                    <a:srgbClr val="000000"/>
                  </a:solidFill>
                  <a:latin typeface="Raleway Heavy"/>
                  <a:ea typeface="Raleway Heavy"/>
                  <a:cs typeface="Raleway Heavy"/>
                  <a:sym typeface="Raleway Heavy"/>
                </a:rPr>
                <a:t>Clean Investor Deck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914880"/>
              <a:ext cx="16169319" cy="493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80"/>
                </a:lnSpc>
              </a:pPr>
              <a:r>
                <a:rPr lang="en-US" sz="2200" spc="281">
                  <a:solidFill>
                    <a:srgbClr val="000000"/>
                  </a:solidFill>
                  <a:latin typeface="Raleway"/>
                  <a:ea typeface="Raleway"/>
                  <a:cs typeface="Raleway"/>
                  <a:sym typeface="Raleway"/>
                </a:rPr>
                <a:t>SIMPLICITY IS</a:t>
              </a:r>
              <a:r>
                <a:rPr lang="en-US" sz="2200" spc="281">
                  <a:solidFill>
                    <a:srgbClr val="000000"/>
                  </a:solidFill>
                  <a:latin typeface="Raleway"/>
                  <a:ea typeface="Raleway"/>
                  <a:cs typeface="Raleway"/>
                  <a:sym typeface="Raleway"/>
                </a:rPr>
                <a:t> THE ULTIMATE SOPHISTICATION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28700" y="314921"/>
            <a:ext cx="5413013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1999" b="true">
                <a:solidFill>
                  <a:srgbClr val="000000"/>
                </a:solidFill>
                <a:latin typeface="Raleway Heavy"/>
                <a:ea typeface="Raleway Heavy"/>
                <a:cs typeface="Raleway Heavy"/>
                <a:sym typeface="Raleway Heavy"/>
              </a:rPr>
              <a:t>Your Company Name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4572000" y="-190500"/>
            <a:ext cx="4572000" cy="5334000"/>
          </a:xfrm>
          <a:prstGeom prst="rect">
            <a:avLst/>
          </a:prstGeom>
          <a:solidFill>
            <a:srgbClr val="FAFAFA"/>
          </a:solidFill>
        </p:spPr>
      </p:sp>
      <p:sp>
        <p:nvSpPr>
          <p:cNvPr name="AutoShape 3" id="3"/>
          <p:cNvSpPr/>
          <p:nvPr/>
        </p:nvSpPr>
        <p:spPr>
          <a:xfrm rot="0">
            <a:off x="13716000" y="-190500"/>
            <a:ext cx="4732249" cy="5334000"/>
          </a:xfrm>
          <a:prstGeom prst="rect">
            <a:avLst/>
          </a:prstGeom>
          <a:solidFill>
            <a:srgbClr val="EDEDED"/>
          </a:solidFill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-879985"/>
            <a:ext cx="4572000" cy="6023485"/>
          </a:xfrm>
          <a:custGeom>
            <a:avLst/>
            <a:gdLst/>
            <a:ahLst/>
            <a:cxnLst/>
            <a:rect r="r" b="b" t="t" l="l"/>
            <a:pathLst>
              <a:path h="6023485" w="4572000">
                <a:moveTo>
                  <a:pt x="0" y="0"/>
                </a:moveTo>
                <a:lnTo>
                  <a:pt x="4572000" y="0"/>
                </a:lnTo>
                <a:lnTo>
                  <a:pt x="4572000" y="6023485"/>
                </a:lnTo>
                <a:lnTo>
                  <a:pt x="0" y="60234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8403" t="0" r="-4897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572000" y="5143500"/>
            <a:ext cx="4751145" cy="5313537"/>
          </a:xfrm>
          <a:custGeom>
            <a:avLst/>
            <a:gdLst/>
            <a:ahLst/>
            <a:cxnLst/>
            <a:rect r="r" b="b" t="t" l="l"/>
            <a:pathLst>
              <a:path h="5313537" w="4751145">
                <a:moveTo>
                  <a:pt x="0" y="0"/>
                </a:moveTo>
                <a:lnTo>
                  <a:pt x="4751145" y="0"/>
                </a:lnTo>
                <a:lnTo>
                  <a:pt x="4751145" y="5313537"/>
                </a:lnTo>
                <a:lnTo>
                  <a:pt x="0" y="53135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5461" r="0" b="-18661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638823" y="5143500"/>
            <a:ext cx="4809426" cy="5313537"/>
          </a:xfrm>
          <a:custGeom>
            <a:avLst/>
            <a:gdLst/>
            <a:ahLst/>
            <a:cxnLst/>
            <a:rect r="r" b="b" t="t" l="l"/>
            <a:pathLst>
              <a:path h="5313537" w="4809426">
                <a:moveTo>
                  <a:pt x="0" y="0"/>
                </a:moveTo>
                <a:lnTo>
                  <a:pt x="4809426" y="0"/>
                </a:lnTo>
                <a:lnTo>
                  <a:pt x="4809426" y="5313537"/>
                </a:lnTo>
                <a:lnTo>
                  <a:pt x="0" y="53135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2861" t="0" r="-32861" b="0"/>
            </a:stretch>
          </a:blipFill>
        </p:spPr>
      </p:sp>
      <p:sp>
        <p:nvSpPr>
          <p:cNvPr name="AutoShape 7" id="7"/>
          <p:cNvSpPr/>
          <p:nvPr/>
        </p:nvSpPr>
        <p:spPr>
          <a:xfrm rot="0">
            <a:off x="9144000" y="5143500"/>
            <a:ext cx="4572000" cy="5313537"/>
          </a:xfrm>
          <a:prstGeom prst="rect">
            <a:avLst/>
          </a:prstGeom>
          <a:solidFill>
            <a:srgbClr val="F6F6F6"/>
          </a:solidFill>
        </p:spPr>
      </p:sp>
      <p:sp>
        <p:nvSpPr>
          <p:cNvPr name="TextBox 8" id="8"/>
          <p:cNvSpPr txBox="true"/>
          <p:nvPr/>
        </p:nvSpPr>
        <p:spPr>
          <a:xfrm rot="0">
            <a:off x="1028700" y="1019175"/>
            <a:ext cx="3244686" cy="2257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80"/>
              </a:lnSpc>
            </a:pPr>
            <a:r>
              <a:rPr lang="en-US" sz="7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The Team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271195" y="1333500"/>
            <a:ext cx="3173610" cy="2472690"/>
            <a:chOff x="0" y="0"/>
            <a:chExt cx="4231481" cy="329692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555625"/>
              <a:ext cx="4231481" cy="27412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2100">
                  <a:solidFill>
                    <a:srgbClr val="000000"/>
                  </a:solidFill>
                  <a:latin typeface="Raleway"/>
                  <a:ea typeface="Raleway"/>
                  <a:cs typeface="Raleway"/>
                  <a:sym typeface="Raleway"/>
                </a:rPr>
                <a:t>Introduce the key members of your team. It's people investors often invest in.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123825"/>
              <a:ext cx="4231481" cy="606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79"/>
                </a:lnSpc>
              </a:pPr>
              <a:r>
                <a:rPr lang="en-US" b="true" sz="2400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Team Member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843195" y="6563924"/>
            <a:ext cx="3173610" cy="2472690"/>
            <a:chOff x="0" y="0"/>
            <a:chExt cx="4231481" cy="3296920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555625"/>
              <a:ext cx="4231481" cy="27412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2100">
                  <a:solidFill>
                    <a:srgbClr val="000000"/>
                  </a:solidFill>
                  <a:latin typeface="Raleway"/>
                  <a:ea typeface="Raleway"/>
                  <a:cs typeface="Raleway"/>
                  <a:sym typeface="Raleway"/>
                </a:rPr>
                <a:t>Introduce the key members of your team. It's people investors often invest in.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123825"/>
              <a:ext cx="4231481" cy="606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79"/>
                </a:lnSpc>
              </a:pPr>
              <a:r>
                <a:rPr lang="en-US" b="true" sz="2400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Team Member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456731" y="1333500"/>
            <a:ext cx="3173610" cy="2472690"/>
            <a:chOff x="0" y="0"/>
            <a:chExt cx="4231481" cy="3296920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555625"/>
              <a:ext cx="4231481" cy="27412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2100">
                  <a:solidFill>
                    <a:srgbClr val="000000"/>
                  </a:solidFill>
                  <a:latin typeface="Raleway"/>
                  <a:ea typeface="Raleway"/>
                  <a:cs typeface="Raleway"/>
                  <a:sym typeface="Raleway"/>
                </a:rPr>
                <a:t>Introduce the key members of your team. It's people investors often invest in.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-123825"/>
              <a:ext cx="4231481" cy="606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79"/>
                </a:lnSpc>
              </a:pPr>
              <a:r>
                <a:rPr lang="en-US" b="true" sz="2400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Team Member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2224505" y="9546643"/>
            <a:ext cx="5048214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99"/>
              </a:lnSpc>
            </a:pPr>
            <a:r>
              <a:rPr lang="en-US" sz="199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MSOE Hackthsgiving 2025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48549" y="1134666"/>
            <a:ext cx="4427471" cy="8210550"/>
          </a:xfrm>
          <a:custGeom>
            <a:avLst/>
            <a:gdLst/>
            <a:ahLst/>
            <a:cxnLst/>
            <a:rect r="r" b="b" t="t" l="l"/>
            <a:pathLst>
              <a:path h="8210550" w="4427471">
                <a:moveTo>
                  <a:pt x="0" y="0"/>
                </a:moveTo>
                <a:lnTo>
                  <a:pt x="4427471" y="0"/>
                </a:lnTo>
                <a:lnTo>
                  <a:pt x="4427471" y="8210550"/>
                </a:lnTo>
                <a:lnTo>
                  <a:pt x="0" y="82105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9084" t="0" r="-8908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075031" y="1019175"/>
            <a:ext cx="10184269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880"/>
              </a:lnSpc>
            </a:pPr>
            <a:r>
              <a:rPr lang="en-US" sz="7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Table of Contents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599680" y="3184685"/>
            <a:ext cx="4243133" cy="346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80"/>
              </a:lnSpc>
            </a:pPr>
            <a:r>
              <a:rPr lang="en-US" sz="18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Executive Summary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599680" y="3757375"/>
            <a:ext cx="4243133" cy="346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80"/>
              </a:lnSpc>
            </a:pPr>
            <a:r>
              <a:rPr lang="en-US" sz="18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Problem &amp; Solution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599680" y="4330066"/>
            <a:ext cx="4243133" cy="346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80"/>
              </a:lnSpc>
            </a:pPr>
            <a:r>
              <a:rPr lang="en-US" sz="18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Your Product / Service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599680" y="4902756"/>
            <a:ext cx="4243133" cy="346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80"/>
              </a:lnSpc>
            </a:pPr>
            <a:r>
              <a:rPr lang="en-US" sz="18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Competitive Advantages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599680" y="5475447"/>
            <a:ext cx="4243133" cy="346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80"/>
              </a:lnSpc>
            </a:pPr>
            <a:r>
              <a:rPr lang="en-US" sz="18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Competitive Analysis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599680" y="6048137"/>
            <a:ext cx="4243133" cy="346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80"/>
              </a:lnSpc>
            </a:pPr>
            <a:r>
              <a:rPr lang="en-US" sz="18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Team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592987" y="3180875"/>
            <a:ext cx="666313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b="true" sz="210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02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592987" y="3751089"/>
            <a:ext cx="666313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b="true" sz="210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03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592987" y="4321303"/>
            <a:ext cx="666313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b="true" sz="210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05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592987" y="4891517"/>
            <a:ext cx="666313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06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592987" y="5461731"/>
            <a:ext cx="666313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b="true" sz="210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07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592987" y="6031945"/>
            <a:ext cx="666313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b="true" sz="210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08</a:t>
            </a:r>
          </a:p>
        </p:txBody>
      </p:sp>
      <p:sp>
        <p:nvSpPr>
          <p:cNvPr name="AutoShape 16" id="16"/>
          <p:cNvSpPr/>
          <p:nvPr/>
        </p:nvSpPr>
        <p:spPr>
          <a:xfrm rot="0">
            <a:off x="11274454" y="3512345"/>
            <a:ext cx="5318533" cy="0"/>
          </a:xfrm>
          <a:prstGeom prst="line">
            <a:avLst/>
          </a:prstGeom>
          <a:ln cap="rnd" w="19050">
            <a:solidFill>
              <a:srgbClr val="737373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rot="0">
            <a:off x="11274454" y="4085035"/>
            <a:ext cx="5318533" cy="0"/>
          </a:xfrm>
          <a:prstGeom prst="line">
            <a:avLst/>
          </a:prstGeom>
          <a:ln cap="rnd" w="19050">
            <a:solidFill>
              <a:srgbClr val="737373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rot="0">
            <a:off x="11274454" y="4657726"/>
            <a:ext cx="5318533" cy="0"/>
          </a:xfrm>
          <a:prstGeom prst="line">
            <a:avLst/>
          </a:prstGeom>
          <a:ln cap="rnd" w="19050">
            <a:solidFill>
              <a:srgbClr val="737373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 rot="0">
            <a:off x="11274454" y="5230416"/>
            <a:ext cx="5318533" cy="0"/>
          </a:xfrm>
          <a:prstGeom prst="line">
            <a:avLst/>
          </a:prstGeom>
          <a:ln cap="rnd" w="19050">
            <a:solidFill>
              <a:srgbClr val="737373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rot="0">
            <a:off x="11274454" y="5803107"/>
            <a:ext cx="5318533" cy="0"/>
          </a:xfrm>
          <a:prstGeom prst="line">
            <a:avLst/>
          </a:prstGeom>
          <a:ln cap="rnd" w="19050">
            <a:solidFill>
              <a:srgbClr val="737373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 rot="0">
            <a:off x="11274454" y="6375797"/>
            <a:ext cx="5318533" cy="0"/>
          </a:xfrm>
          <a:prstGeom prst="line">
            <a:avLst/>
          </a:prstGeom>
          <a:ln cap="rnd" w="19050">
            <a:solidFill>
              <a:srgbClr val="737373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TextBox 22" id="22"/>
          <p:cNvSpPr txBox="true"/>
          <p:nvPr/>
        </p:nvSpPr>
        <p:spPr>
          <a:xfrm rot="0">
            <a:off x="6599680" y="6620828"/>
            <a:ext cx="4243133" cy="346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80"/>
              </a:lnSpc>
            </a:pPr>
            <a:r>
              <a:rPr lang="en-US" sz="18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Target Market</a:t>
            </a:r>
            <a:r>
              <a:rPr lang="en-US" sz="18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Opportunity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592987" y="6602159"/>
            <a:ext cx="666313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b="true" sz="210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09</a:t>
            </a:r>
          </a:p>
        </p:txBody>
      </p:sp>
      <p:sp>
        <p:nvSpPr>
          <p:cNvPr name="AutoShape 24" id="24"/>
          <p:cNvSpPr/>
          <p:nvPr/>
        </p:nvSpPr>
        <p:spPr>
          <a:xfrm rot="0">
            <a:off x="11274454" y="6948488"/>
            <a:ext cx="5318533" cy="0"/>
          </a:xfrm>
          <a:prstGeom prst="line">
            <a:avLst/>
          </a:prstGeom>
          <a:ln cap="rnd" w="19050">
            <a:solidFill>
              <a:srgbClr val="737373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TextBox 25" id="25"/>
          <p:cNvSpPr txBox="true"/>
          <p:nvPr/>
        </p:nvSpPr>
        <p:spPr>
          <a:xfrm rot="0">
            <a:off x="6599680" y="7193518"/>
            <a:ext cx="4243133" cy="346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80"/>
              </a:lnSpc>
            </a:pPr>
            <a:r>
              <a:rPr lang="en-US" sz="18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Business Model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592987" y="7172373"/>
            <a:ext cx="666313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b="true" sz="210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10</a:t>
            </a:r>
          </a:p>
        </p:txBody>
      </p:sp>
      <p:sp>
        <p:nvSpPr>
          <p:cNvPr name="AutoShape 27" id="27"/>
          <p:cNvSpPr/>
          <p:nvPr/>
        </p:nvSpPr>
        <p:spPr>
          <a:xfrm rot="0">
            <a:off x="11274454" y="7521178"/>
            <a:ext cx="5318533" cy="0"/>
          </a:xfrm>
          <a:prstGeom prst="line">
            <a:avLst/>
          </a:prstGeom>
          <a:ln cap="rnd" w="19050">
            <a:solidFill>
              <a:srgbClr val="737373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TextBox 28" id="28"/>
          <p:cNvSpPr txBox="true"/>
          <p:nvPr/>
        </p:nvSpPr>
        <p:spPr>
          <a:xfrm rot="0">
            <a:off x="6599680" y="7766209"/>
            <a:ext cx="4243133" cy="346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80"/>
              </a:lnSpc>
            </a:pPr>
            <a:r>
              <a:rPr lang="en-US" sz="18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Traction &amp; Milestones</a:t>
            </a:r>
          </a:p>
        </p:txBody>
      </p:sp>
      <p:sp>
        <p:nvSpPr>
          <p:cNvPr name="AutoShape 29" id="29"/>
          <p:cNvSpPr/>
          <p:nvPr/>
        </p:nvSpPr>
        <p:spPr>
          <a:xfrm rot="0">
            <a:off x="11274454" y="8093869"/>
            <a:ext cx="5318533" cy="0"/>
          </a:xfrm>
          <a:prstGeom prst="line">
            <a:avLst/>
          </a:prstGeom>
          <a:ln cap="rnd" w="19050">
            <a:solidFill>
              <a:srgbClr val="737373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TextBox 30" id="30"/>
          <p:cNvSpPr txBox="true"/>
          <p:nvPr/>
        </p:nvSpPr>
        <p:spPr>
          <a:xfrm rot="0">
            <a:off x="16592987" y="7742587"/>
            <a:ext cx="666313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b="true" sz="210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11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599680" y="8338899"/>
            <a:ext cx="4243133" cy="346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80"/>
              </a:lnSpc>
            </a:pPr>
            <a:r>
              <a:rPr lang="en-US" sz="18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Marketing, Sales, and Finances</a:t>
            </a:r>
          </a:p>
        </p:txBody>
      </p:sp>
      <p:sp>
        <p:nvSpPr>
          <p:cNvPr name="AutoShape 32" id="32"/>
          <p:cNvSpPr/>
          <p:nvPr/>
        </p:nvSpPr>
        <p:spPr>
          <a:xfrm rot="0">
            <a:off x="11274454" y="8666559"/>
            <a:ext cx="5318533" cy="0"/>
          </a:xfrm>
          <a:prstGeom prst="line">
            <a:avLst/>
          </a:prstGeom>
          <a:ln cap="rnd" w="19050">
            <a:solidFill>
              <a:srgbClr val="737373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TextBox 33" id="33"/>
          <p:cNvSpPr txBox="true"/>
          <p:nvPr/>
        </p:nvSpPr>
        <p:spPr>
          <a:xfrm rot="0">
            <a:off x="16592987" y="8312801"/>
            <a:ext cx="666313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b="true" sz="210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12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599680" y="8911590"/>
            <a:ext cx="4243133" cy="346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80"/>
              </a:lnSpc>
            </a:pPr>
            <a:r>
              <a:rPr lang="en-US" sz="18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Investment &amp; Use of Funds</a:t>
            </a:r>
          </a:p>
        </p:txBody>
      </p:sp>
      <p:sp>
        <p:nvSpPr>
          <p:cNvPr name="AutoShape 35" id="35"/>
          <p:cNvSpPr/>
          <p:nvPr/>
        </p:nvSpPr>
        <p:spPr>
          <a:xfrm rot="0">
            <a:off x="11274454" y="9239250"/>
            <a:ext cx="5318533" cy="0"/>
          </a:xfrm>
          <a:prstGeom prst="line">
            <a:avLst/>
          </a:prstGeom>
          <a:ln cap="rnd" w="19050">
            <a:solidFill>
              <a:srgbClr val="737373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TextBox 36" id="36"/>
          <p:cNvSpPr txBox="true"/>
          <p:nvPr/>
        </p:nvSpPr>
        <p:spPr>
          <a:xfrm rot="0">
            <a:off x="16592987" y="8883015"/>
            <a:ext cx="666313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b="true" sz="210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14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224505" y="9546643"/>
            <a:ext cx="5048214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99"/>
              </a:lnSpc>
            </a:pPr>
            <a:r>
              <a:rPr lang="en-US" sz="19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MSOE Hackthsgiving 2025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349380"/>
            <a:ext cx="8707768" cy="7588241"/>
          </a:xfrm>
          <a:custGeom>
            <a:avLst/>
            <a:gdLst/>
            <a:ahLst/>
            <a:cxnLst/>
            <a:rect r="r" b="b" t="t" l="l"/>
            <a:pathLst>
              <a:path h="7588241" w="8707768">
                <a:moveTo>
                  <a:pt x="0" y="0"/>
                </a:moveTo>
                <a:lnTo>
                  <a:pt x="8707768" y="0"/>
                </a:lnTo>
                <a:lnTo>
                  <a:pt x="8707768" y="7588240"/>
                </a:lnTo>
                <a:lnTo>
                  <a:pt x="0" y="75882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357" t="0" r="-15357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432263" y="3472819"/>
            <a:ext cx="8827037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80"/>
              </a:lnSpc>
            </a:pPr>
            <a:r>
              <a:rPr lang="en-US" sz="7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Executive Summary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842506" y="5447848"/>
            <a:ext cx="5565573" cy="2034540"/>
            <a:chOff x="0" y="0"/>
            <a:chExt cx="7420763" cy="271272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682625"/>
              <a:ext cx="7420763" cy="20300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2100">
                  <a:solidFill>
                    <a:srgbClr val="737373"/>
                  </a:solidFill>
                  <a:latin typeface="Raleway"/>
                  <a:ea typeface="Raleway"/>
                  <a:cs typeface="Raleway"/>
                  <a:sym typeface="Raleway"/>
                </a:rPr>
                <a:t>A shor</a:t>
              </a:r>
              <a:r>
                <a:rPr lang="en-US" sz="2100">
                  <a:solidFill>
                    <a:srgbClr val="737373"/>
                  </a:solidFill>
                  <a:latin typeface="Raleway"/>
                  <a:ea typeface="Raleway"/>
                  <a:cs typeface="Raleway"/>
                  <a:sym typeface="Raleway"/>
                </a:rPr>
                <a:t>t overview of your business and the value that you provide to your potential customers. Keep it simple and clear.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-123825"/>
              <a:ext cx="7420763" cy="606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79"/>
                </a:lnSpc>
              </a:pPr>
              <a:r>
                <a:rPr lang="en-US" sz="2400" b="true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Your Vision and Value Proposition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2224505" y="9546643"/>
            <a:ext cx="5048214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99"/>
              </a:lnSpc>
            </a:pPr>
            <a:r>
              <a:rPr lang="en-US" sz="19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MSOE Hackthsgiving 2025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505553" y="-133350"/>
            <a:ext cx="8008074" cy="9391650"/>
            <a:chOff x="0" y="0"/>
            <a:chExt cx="1470846" cy="17249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70846" cy="1724968"/>
            </a:xfrm>
            <a:custGeom>
              <a:avLst/>
              <a:gdLst/>
              <a:ahLst/>
              <a:cxnLst/>
              <a:rect r="r" b="b" t="t" l="l"/>
              <a:pathLst>
                <a:path h="1724968" w="1470846">
                  <a:moveTo>
                    <a:pt x="0" y="0"/>
                  </a:moveTo>
                  <a:lnTo>
                    <a:pt x="1470846" y="0"/>
                  </a:lnTo>
                  <a:lnTo>
                    <a:pt x="1470846" y="1724968"/>
                  </a:lnTo>
                  <a:lnTo>
                    <a:pt x="0" y="1724968"/>
                  </a:lnTo>
                  <a:close/>
                </a:path>
              </a:pathLst>
            </a:custGeom>
            <a:solidFill>
              <a:srgbClr val="F9F9F9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7189545" y="-113107"/>
            <a:ext cx="3316008" cy="9371407"/>
          </a:xfrm>
          <a:custGeom>
            <a:avLst/>
            <a:gdLst/>
            <a:ahLst/>
            <a:cxnLst/>
            <a:rect r="r" b="b" t="t" l="l"/>
            <a:pathLst>
              <a:path h="9371407" w="3316008">
                <a:moveTo>
                  <a:pt x="0" y="0"/>
                </a:moveTo>
                <a:lnTo>
                  <a:pt x="3316008" y="0"/>
                </a:lnTo>
                <a:lnTo>
                  <a:pt x="3316008" y="9371407"/>
                </a:lnTo>
                <a:lnTo>
                  <a:pt x="0" y="93714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4321" t="0" r="-44321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700" y="1028700"/>
            <a:ext cx="5235012" cy="4545425"/>
            <a:chOff x="0" y="0"/>
            <a:chExt cx="6980017" cy="6060567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9525"/>
              <a:ext cx="6980017" cy="3006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880"/>
                </a:lnSpc>
              </a:pPr>
              <a:r>
                <a:rPr lang="en-US" sz="7400">
                  <a:solidFill>
                    <a:srgbClr val="000000"/>
                  </a:solidFill>
                  <a:latin typeface="Raleway"/>
                  <a:ea typeface="Raleway"/>
                  <a:cs typeface="Raleway"/>
                  <a:sym typeface="Raleway"/>
                </a:rPr>
                <a:t>The Problem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3319272"/>
              <a:ext cx="6980017" cy="27412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2100">
                  <a:solidFill>
                    <a:srgbClr val="737373"/>
                  </a:solidFill>
                  <a:latin typeface="Raleway"/>
                  <a:ea typeface="Raleway"/>
                  <a:cs typeface="Raleway"/>
                  <a:sym typeface="Raleway"/>
                </a:rPr>
                <a:t>Define the problem you are trying to solve and who has is. What pain points are you trying to address? Why do you get out of bed in the morning?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338221" y="1024890"/>
            <a:ext cx="5921079" cy="1939290"/>
            <a:chOff x="0" y="0"/>
            <a:chExt cx="7894772" cy="258572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555625"/>
              <a:ext cx="7894772" cy="20300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2100">
                  <a:solidFill>
                    <a:srgbClr val="737373"/>
                  </a:solidFill>
                  <a:latin typeface="Raleway"/>
                  <a:ea typeface="Raleway"/>
                  <a:cs typeface="Raleway"/>
                  <a:sym typeface="Raleway"/>
                </a:rPr>
                <a:t>Introduce the problem to solve--make sure your audience can relate. Present it in a way that makes old solutions sound obsolete.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123825"/>
              <a:ext cx="7894772" cy="606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79"/>
                </a:lnSpc>
              </a:pPr>
              <a:r>
                <a:rPr lang="en-US" sz="2400" b="true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Problem 1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338221" y="3682460"/>
            <a:ext cx="5921079" cy="1939290"/>
            <a:chOff x="0" y="0"/>
            <a:chExt cx="7894772" cy="258572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555625"/>
              <a:ext cx="7894772" cy="20300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2100">
                  <a:solidFill>
                    <a:srgbClr val="737373"/>
                  </a:solidFill>
                  <a:latin typeface="Raleway"/>
                  <a:ea typeface="Raleway"/>
                  <a:cs typeface="Raleway"/>
                  <a:sym typeface="Raleway"/>
                </a:rPr>
                <a:t>Introduce the problem to solve--make sure your audience can relate. Present it in a way that makes old solutions sound obsolete.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123825"/>
              <a:ext cx="7894772" cy="606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79"/>
                </a:lnSpc>
              </a:pPr>
              <a:r>
                <a:rPr lang="en-US" sz="2400" b="true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Problem 2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338221" y="6340030"/>
            <a:ext cx="5921079" cy="1939290"/>
            <a:chOff x="0" y="0"/>
            <a:chExt cx="7894772" cy="2585720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555625"/>
              <a:ext cx="7894772" cy="20300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2100">
                  <a:solidFill>
                    <a:srgbClr val="737373"/>
                  </a:solidFill>
                  <a:latin typeface="Raleway"/>
                  <a:ea typeface="Raleway"/>
                  <a:cs typeface="Raleway"/>
                  <a:sym typeface="Raleway"/>
                </a:rPr>
                <a:t>Introduce the problem to solve--make sure your audience can relate. Present it in a way that makes old solutions sound obsolete.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-123825"/>
              <a:ext cx="7894772" cy="606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79"/>
                </a:lnSpc>
              </a:pPr>
              <a:r>
                <a:rPr lang="en-US" sz="2400" b="true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Problem 3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2224505" y="9546643"/>
            <a:ext cx="5048214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99"/>
              </a:lnSpc>
            </a:pPr>
            <a:r>
              <a:rPr lang="en-US" sz="19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MSOE Hackthsgiving 2025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7820476" cy="4114800"/>
          </a:xfrm>
          <a:custGeom>
            <a:avLst/>
            <a:gdLst/>
            <a:ahLst/>
            <a:cxnLst/>
            <a:rect r="r" b="b" t="t" l="l"/>
            <a:pathLst>
              <a:path h="4114800" w="7820476">
                <a:moveTo>
                  <a:pt x="0" y="0"/>
                </a:moveTo>
                <a:lnTo>
                  <a:pt x="7820476" y="0"/>
                </a:lnTo>
                <a:lnTo>
                  <a:pt x="782047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3352" r="0" b="-1335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091621" y="2002155"/>
            <a:ext cx="8115300" cy="2167890"/>
            <a:chOff x="0" y="0"/>
            <a:chExt cx="10820400" cy="289052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9525"/>
              <a:ext cx="10820400" cy="1508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880"/>
                </a:lnSpc>
              </a:pPr>
              <a:r>
                <a:rPr lang="en-US" sz="7400">
                  <a:solidFill>
                    <a:srgbClr val="000000"/>
                  </a:solidFill>
                  <a:latin typeface="Raleway"/>
                  <a:ea typeface="Raleway"/>
                  <a:cs typeface="Raleway"/>
                  <a:sym typeface="Raleway"/>
                </a:rPr>
                <a:t>The Solution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571625"/>
              <a:ext cx="10820400" cy="13188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2100">
                  <a:solidFill>
                    <a:srgbClr val="737373"/>
                  </a:solidFill>
                  <a:latin typeface="Raleway"/>
                  <a:ea typeface="Raleway"/>
                  <a:cs typeface="Raleway"/>
                  <a:sym typeface="Raleway"/>
                </a:rPr>
                <a:t>List 3 ways your company proposes to solve the problem. Adopt your customer's point of view when doing so. Use empathy.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6252210"/>
            <a:ext cx="4897799" cy="1939290"/>
            <a:chOff x="0" y="0"/>
            <a:chExt cx="6530398" cy="258572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555625"/>
              <a:ext cx="5667361" cy="20300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2100">
                  <a:solidFill>
                    <a:srgbClr val="737373"/>
                  </a:solidFill>
                  <a:latin typeface="Raleway"/>
                  <a:ea typeface="Raleway"/>
                  <a:cs typeface="Raleway"/>
                  <a:sym typeface="Raleway"/>
                </a:rPr>
                <a:t>Present one of your solutions if multiple; or a first step, feature, or pre-requisite if not.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123825"/>
              <a:ext cx="6530398" cy="606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79"/>
                </a:lnSpc>
              </a:pPr>
              <a:r>
                <a:rPr lang="en-US" sz="2400" b="true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Solution 1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091621" y="6252210"/>
            <a:ext cx="4897799" cy="1939290"/>
            <a:chOff x="0" y="0"/>
            <a:chExt cx="6530398" cy="258572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555625"/>
              <a:ext cx="5667361" cy="20300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2100">
                  <a:solidFill>
                    <a:srgbClr val="737373"/>
                  </a:solidFill>
                  <a:latin typeface="Raleway"/>
                  <a:ea typeface="Raleway"/>
                  <a:cs typeface="Raleway"/>
                  <a:sym typeface="Raleway"/>
                </a:rPr>
                <a:t>Present one of your solutions if multiple; or a first step, feature, or pre-requisite if not.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123825"/>
              <a:ext cx="6530398" cy="606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79"/>
                </a:lnSpc>
              </a:pPr>
              <a:r>
                <a:rPr lang="en-US" sz="2400" b="true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Solution 2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154542" y="6252210"/>
            <a:ext cx="4897799" cy="1939290"/>
            <a:chOff x="0" y="0"/>
            <a:chExt cx="6530398" cy="2585720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555625"/>
              <a:ext cx="5667361" cy="20300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2100">
                  <a:solidFill>
                    <a:srgbClr val="737373"/>
                  </a:solidFill>
                  <a:latin typeface="Raleway"/>
                  <a:ea typeface="Raleway"/>
                  <a:cs typeface="Raleway"/>
                  <a:sym typeface="Raleway"/>
                </a:rPr>
                <a:t>Present one of your solutions if multiple; or a first step, feature, or pre-requisite if not.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123825"/>
              <a:ext cx="6530398" cy="606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79"/>
                </a:lnSpc>
              </a:pPr>
              <a:r>
                <a:rPr lang="en-US" sz="2400" b="true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Solution 3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2224505" y="9546643"/>
            <a:ext cx="5048214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99"/>
              </a:lnSpc>
            </a:pPr>
            <a:r>
              <a:rPr lang="en-US" sz="19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MSOE Hackthsgiving 2025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702753" y="-138029"/>
            <a:ext cx="5715322" cy="10563059"/>
            <a:chOff x="0" y="0"/>
            <a:chExt cx="1528256" cy="28245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8256" cy="2824523"/>
            </a:xfrm>
            <a:custGeom>
              <a:avLst/>
              <a:gdLst/>
              <a:ahLst/>
              <a:cxnLst/>
              <a:rect r="r" b="b" t="t" l="l"/>
              <a:pathLst>
                <a:path h="2824523" w="1528256">
                  <a:moveTo>
                    <a:pt x="0" y="0"/>
                  </a:moveTo>
                  <a:lnTo>
                    <a:pt x="1528256" y="0"/>
                  </a:lnTo>
                  <a:lnTo>
                    <a:pt x="1528256" y="2824523"/>
                  </a:lnTo>
                  <a:lnTo>
                    <a:pt x="0" y="2824523"/>
                  </a:lnTo>
                  <a:close/>
                </a:path>
              </a:pathLst>
            </a:custGeom>
            <a:solidFill>
              <a:srgbClr val="F9F9F9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9144000" y="3749434"/>
            <a:ext cx="3558753" cy="3557434"/>
          </a:xfrm>
          <a:custGeom>
            <a:avLst/>
            <a:gdLst/>
            <a:ahLst/>
            <a:cxnLst/>
            <a:rect r="r" b="b" t="t" l="l"/>
            <a:pathLst>
              <a:path h="3557434" w="3558753">
                <a:moveTo>
                  <a:pt x="0" y="0"/>
                </a:moveTo>
                <a:lnTo>
                  <a:pt x="3558753" y="0"/>
                </a:lnTo>
                <a:lnTo>
                  <a:pt x="3558753" y="3557433"/>
                </a:lnTo>
                <a:lnTo>
                  <a:pt x="0" y="35574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4972" t="0" r="-24972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019175"/>
            <a:ext cx="10606589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80"/>
              </a:lnSpc>
            </a:pPr>
            <a:r>
              <a:rPr lang="en-US" sz="7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Y</a:t>
            </a:r>
            <a:r>
              <a:rPr lang="en-US" sz="7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our Product or Service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4032646"/>
            <a:ext cx="5595357" cy="2991010"/>
            <a:chOff x="0" y="0"/>
            <a:chExt cx="7460476" cy="3988013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246718"/>
              <a:ext cx="7460476" cy="27412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2100">
                  <a:solidFill>
                    <a:srgbClr val="737373"/>
                  </a:solidFill>
                  <a:latin typeface="Raleway"/>
                  <a:ea typeface="Raleway"/>
                  <a:cs typeface="Raleway"/>
                  <a:sym typeface="Raleway"/>
                </a:rPr>
                <a:t>Introduce the details of your product or service and how it'll help prospects solve their problem. Keep it high-level and easy to understand. Think elevator pitch.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123825"/>
              <a:ext cx="7460476" cy="1292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79"/>
                </a:lnSpc>
              </a:pPr>
              <a:r>
                <a:rPr lang="en-US" sz="2400" b="true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Quick summary of what your product or service can do for your audience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2702753" y="3749434"/>
            <a:ext cx="3550820" cy="3549503"/>
          </a:xfrm>
          <a:custGeom>
            <a:avLst/>
            <a:gdLst/>
            <a:ahLst/>
            <a:cxnLst/>
            <a:rect r="r" b="b" t="t" l="l"/>
            <a:pathLst>
              <a:path h="3549503" w="3550820">
                <a:moveTo>
                  <a:pt x="0" y="0"/>
                </a:moveTo>
                <a:lnTo>
                  <a:pt x="3550820" y="0"/>
                </a:lnTo>
                <a:lnTo>
                  <a:pt x="3550820" y="3549503"/>
                </a:lnTo>
                <a:lnTo>
                  <a:pt x="0" y="35495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5027" r="0" b="-25027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2224505" y="9546643"/>
            <a:ext cx="5048214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99"/>
              </a:lnSpc>
            </a:pPr>
            <a:r>
              <a:rPr lang="en-US" sz="19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MSOE Hackthsgiving 2025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19175"/>
            <a:ext cx="11781701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880"/>
              </a:lnSpc>
            </a:pPr>
            <a:r>
              <a:rPr lang="en-US" sz="7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Competitive Advantages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3436531" y="5886450"/>
            <a:ext cx="3822769" cy="3371850"/>
          </a:xfrm>
          <a:custGeom>
            <a:avLst/>
            <a:gdLst/>
            <a:ahLst/>
            <a:cxnLst/>
            <a:rect r="r" b="b" t="t" l="l"/>
            <a:pathLst>
              <a:path h="3371850" w="3822769">
                <a:moveTo>
                  <a:pt x="0" y="0"/>
                </a:moveTo>
                <a:lnTo>
                  <a:pt x="3822769" y="0"/>
                </a:lnTo>
                <a:lnTo>
                  <a:pt x="3822769" y="3371850"/>
                </a:lnTo>
                <a:lnTo>
                  <a:pt x="0" y="33718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5029" r="0" b="-35029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987632" y="5886450"/>
            <a:ext cx="3822769" cy="3371850"/>
          </a:xfrm>
          <a:custGeom>
            <a:avLst/>
            <a:gdLst/>
            <a:ahLst/>
            <a:cxnLst/>
            <a:rect r="r" b="b" t="t" l="l"/>
            <a:pathLst>
              <a:path h="3371850" w="3822769">
                <a:moveTo>
                  <a:pt x="0" y="0"/>
                </a:moveTo>
                <a:lnTo>
                  <a:pt x="3822769" y="0"/>
                </a:lnTo>
                <a:lnTo>
                  <a:pt x="3822769" y="3371850"/>
                </a:lnTo>
                <a:lnTo>
                  <a:pt x="0" y="33718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5029" r="0" b="-35029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538733" y="5886450"/>
            <a:ext cx="3822769" cy="3371850"/>
          </a:xfrm>
          <a:custGeom>
            <a:avLst/>
            <a:gdLst/>
            <a:ahLst/>
            <a:cxnLst/>
            <a:rect r="r" b="b" t="t" l="l"/>
            <a:pathLst>
              <a:path h="3371850" w="3822769">
                <a:moveTo>
                  <a:pt x="0" y="0"/>
                </a:moveTo>
                <a:lnTo>
                  <a:pt x="3822769" y="0"/>
                </a:lnTo>
                <a:lnTo>
                  <a:pt x="3822769" y="3371850"/>
                </a:lnTo>
                <a:lnTo>
                  <a:pt x="0" y="33718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5029" r="0" b="-35029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538733" y="3947160"/>
            <a:ext cx="3822769" cy="1405890"/>
            <a:chOff x="0" y="0"/>
            <a:chExt cx="5097025" cy="187452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555625"/>
              <a:ext cx="5097025" cy="13188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2100">
                  <a:solidFill>
                    <a:srgbClr val="737373"/>
                  </a:solidFill>
                  <a:latin typeface="Raleway"/>
                  <a:ea typeface="Raleway"/>
                  <a:cs typeface="Raleway"/>
                  <a:sym typeface="Raleway"/>
                </a:rPr>
                <a:t>What makes your product or service special and different?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123825"/>
              <a:ext cx="5097025" cy="606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79"/>
                </a:lnSpc>
              </a:pPr>
              <a:r>
                <a:rPr lang="en-US" sz="2400" b="true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Benefit 1 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436531" y="3947160"/>
            <a:ext cx="3715797" cy="1405890"/>
            <a:chOff x="0" y="0"/>
            <a:chExt cx="4954396" cy="187452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555625"/>
              <a:ext cx="4954396" cy="13188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2100">
                  <a:solidFill>
                    <a:srgbClr val="737373"/>
                  </a:solidFill>
                  <a:latin typeface="Raleway"/>
                  <a:ea typeface="Raleway"/>
                  <a:cs typeface="Raleway"/>
                  <a:sym typeface="Raleway"/>
                </a:rPr>
                <a:t>Don't get technical--these should be high-level enough.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123825"/>
              <a:ext cx="4954396" cy="606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79"/>
                </a:lnSpc>
              </a:pPr>
              <a:r>
                <a:rPr lang="en-US" sz="2400" b="true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Benefit 3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987632" y="3950970"/>
            <a:ext cx="3822769" cy="1402080"/>
            <a:chOff x="0" y="0"/>
            <a:chExt cx="5097025" cy="1869440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550545"/>
              <a:ext cx="5097025" cy="13188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2100">
                  <a:solidFill>
                    <a:srgbClr val="737373"/>
                  </a:solidFill>
                  <a:latin typeface="Raleway"/>
                  <a:ea typeface="Raleway"/>
                  <a:cs typeface="Raleway"/>
                  <a:sym typeface="Raleway"/>
                </a:rPr>
                <a:t>Make sure you are addressing your audience's problems.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57150"/>
              <a:ext cx="5097025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 b="true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Benefit 2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2224505" y="9546643"/>
            <a:ext cx="5048214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99"/>
              </a:lnSpc>
            </a:pPr>
            <a:r>
              <a:rPr lang="en-US" sz="19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MSOE Hackthsgiving 2025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517549" y="5143500"/>
            <a:ext cx="6172200" cy="4114800"/>
          </a:xfrm>
          <a:custGeom>
            <a:avLst/>
            <a:gdLst/>
            <a:ahLst/>
            <a:cxnLst/>
            <a:rect r="r" b="b" t="t" l="l"/>
            <a:pathLst>
              <a:path h="4114800" w="6172200">
                <a:moveTo>
                  <a:pt x="0" y="0"/>
                </a:moveTo>
                <a:lnTo>
                  <a:pt x="6172200" y="0"/>
                </a:lnTo>
                <a:lnTo>
                  <a:pt x="61722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654651" y="5143500"/>
            <a:ext cx="4489349" cy="4114800"/>
            <a:chOff x="0" y="0"/>
            <a:chExt cx="2088101" cy="191389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88101" cy="1913890"/>
            </a:xfrm>
            <a:custGeom>
              <a:avLst/>
              <a:gdLst/>
              <a:ahLst/>
              <a:cxnLst/>
              <a:rect r="r" b="b" t="t" l="l"/>
              <a:pathLst>
                <a:path h="1913890" w="2088101">
                  <a:moveTo>
                    <a:pt x="0" y="0"/>
                  </a:moveTo>
                  <a:lnTo>
                    <a:pt x="2088101" y="0"/>
                  </a:lnTo>
                  <a:lnTo>
                    <a:pt x="2088101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3604774" y="1028700"/>
            <a:ext cx="6170272" cy="4114800"/>
          </a:xfrm>
          <a:custGeom>
            <a:avLst/>
            <a:gdLst/>
            <a:ahLst/>
            <a:cxnLst/>
            <a:rect r="r" b="b" t="t" l="l"/>
            <a:pathLst>
              <a:path h="4114800" w="6170272">
                <a:moveTo>
                  <a:pt x="0" y="0"/>
                </a:moveTo>
                <a:lnTo>
                  <a:pt x="6170272" y="0"/>
                </a:lnTo>
                <a:lnTo>
                  <a:pt x="617027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817701" y="5143500"/>
            <a:ext cx="4470299" cy="4114800"/>
          </a:xfrm>
          <a:custGeom>
            <a:avLst/>
            <a:gdLst/>
            <a:ahLst/>
            <a:cxnLst/>
            <a:rect r="r" b="b" t="t" l="l"/>
            <a:pathLst>
              <a:path h="4114800" w="4470299">
                <a:moveTo>
                  <a:pt x="0" y="0"/>
                </a:moveTo>
                <a:lnTo>
                  <a:pt x="4470299" y="0"/>
                </a:lnTo>
                <a:lnTo>
                  <a:pt x="447029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142" t="-25031" r="-18929" b="-25031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28700" y="1028700"/>
            <a:ext cx="7178661" cy="3291840"/>
            <a:chOff x="0" y="0"/>
            <a:chExt cx="9571548" cy="438912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9525"/>
              <a:ext cx="9571548" cy="3006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880"/>
                </a:lnSpc>
              </a:pPr>
              <a:r>
                <a:rPr lang="en-US" sz="7400">
                  <a:solidFill>
                    <a:srgbClr val="000000"/>
                  </a:solidFill>
                  <a:latin typeface="Raleway"/>
                  <a:ea typeface="Raleway"/>
                  <a:cs typeface="Raleway"/>
                  <a:sym typeface="Raleway"/>
                </a:rPr>
                <a:t>C</a:t>
              </a:r>
              <a:r>
                <a:rPr lang="en-US" sz="7400">
                  <a:solidFill>
                    <a:srgbClr val="000000"/>
                  </a:solidFill>
                  <a:latin typeface="Raleway"/>
                  <a:ea typeface="Raleway"/>
                  <a:cs typeface="Raleway"/>
                  <a:sym typeface="Raleway"/>
                </a:rPr>
                <a:t>ompetitive Analysis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3070225"/>
              <a:ext cx="9571548" cy="13188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2100">
                  <a:solidFill>
                    <a:srgbClr val="737373"/>
                  </a:solidFill>
                  <a:latin typeface="Raleway"/>
                  <a:ea typeface="Raleway"/>
                  <a:cs typeface="Raleway"/>
                  <a:sym typeface="Raleway"/>
                </a:rPr>
                <a:t>Define your main competitors </a:t>
              </a:r>
              <a:r>
                <a:rPr lang="en-US" sz="2100">
                  <a:solidFill>
                    <a:srgbClr val="737373"/>
                  </a:solidFill>
                  <a:latin typeface="Raleway"/>
                  <a:ea typeface="Raleway"/>
                  <a:cs typeface="Raleway"/>
                  <a:sym typeface="Raleway"/>
                </a:rPr>
                <a:t>and  their alternative solutions to the problem you are planning to solve.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3604774" y="5143500"/>
            <a:ext cx="6170272" cy="4114800"/>
          </a:xfrm>
          <a:custGeom>
            <a:avLst/>
            <a:gdLst/>
            <a:ahLst/>
            <a:cxnLst/>
            <a:rect r="r" b="b" t="t" l="l"/>
            <a:pathLst>
              <a:path h="4114800" w="6170272">
                <a:moveTo>
                  <a:pt x="0" y="0"/>
                </a:moveTo>
                <a:lnTo>
                  <a:pt x="6170272" y="0"/>
                </a:lnTo>
                <a:lnTo>
                  <a:pt x="617027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4826" r="0" b="-4826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5213229" y="6496050"/>
            <a:ext cx="3372194" cy="1405890"/>
            <a:chOff x="0" y="0"/>
            <a:chExt cx="4496259" cy="187452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555625"/>
              <a:ext cx="4496259" cy="13188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2100">
                  <a:solidFill>
                    <a:srgbClr val="737373"/>
                  </a:solidFill>
                  <a:latin typeface="Raleway"/>
                  <a:ea typeface="Raleway"/>
                  <a:cs typeface="Raleway"/>
                  <a:sym typeface="Raleway"/>
                </a:rPr>
                <a:t>W</a:t>
              </a:r>
              <a:r>
                <a:rPr lang="en-US" sz="2100">
                  <a:solidFill>
                    <a:srgbClr val="737373"/>
                  </a:solidFill>
                  <a:latin typeface="Raleway"/>
                  <a:ea typeface="Raleway"/>
                  <a:cs typeface="Raleway"/>
                  <a:sym typeface="Raleway"/>
                </a:rPr>
                <a:t>hy is your solution better than competitor's #1?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123825"/>
              <a:ext cx="4496259" cy="606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79"/>
                </a:lnSpc>
              </a:pPr>
              <a:r>
                <a:rPr lang="en-US" b="true" sz="2400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Competitor 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44000" y="1028700"/>
            <a:ext cx="4489349" cy="4114800"/>
            <a:chOff x="0" y="0"/>
            <a:chExt cx="2088101" cy="191389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88101" cy="1913890"/>
            </a:xfrm>
            <a:custGeom>
              <a:avLst/>
              <a:gdLst/>
              <a:ahLst/>
              <a:cxnLst/>
              <a:rect r="r" b="b" t="t" l="l"/>
              <a:pathLst>
                <a:path h="1913890" w="2088101">
                  <a:moveTo>
                    <a:pt x="0" y="0"/>
                  </a:moveTo>
                  <a:lnTo>
                    <a:pt x="2088101" y="0"/>
                  </a:lnTo>
                  <a:lnTo>
                    <a:pt x="2088101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F6F6F6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144000" y="5143500"/>
            <a:ext cx="4489349" cy="4114800"/>
            <a:chOff x="0" y="0"/>
            <a:chExt cx="2088101" cy="191389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88101" cy="1913890"/>
            </a:xfrm>
            <a:custGeom>
              <a:avLst/>
              <a:gdLst/>
              <a:ahLst/>
              <a:cxnLst/>
              <a:rect r="r" b="b" t="t" l="l"/>
              <a:pathLst>
                <a:path h="1913890" w="2088101">
                  <a:moveTo>
                    <a:pt x="0" y="0"/>
                  </a:moveTo>
                  <a:lnTo>
                    <a:pt x="2088101" y="0"/>
                  </a:lnTo>
                  <a:lnTo>
                    <a:pt x="2088101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EDEDED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702577" y="2381250"/>
            <a:ext cx="3372194" cy="1405890"/>
            <a:chOff x="0" y="0"/>
            <a:chExt cx="4496259" cy="1874520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555625"/>
              <a:ext cx="4496259" cy="13188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2100">
                  <a:solidFill>
                    <a:srgbClr val="737373"/>
                  </a:solidFill>
                  <a:latin typeface="Raleway"/>
                  <a:ea typeface="Raleway"/>
                  <a:cs typeface="Raleway"/>
                  <a:sym typeface="Raleway"/>
                </a:rPr>
                <a:t>W</a:t>
              </a:r>
              <a:r>
                <a:rPr lang="en-US" sz="2100">
                  <a:solidFill>
                    <a:srgbClr val="737373"/>
                  </a:solidFill>
                  <a:latin typeface="Raleway"/>
                  <a:ea typeface="Raleway"/>
                  <a:cs typeface="Raleway"/>
                  <a:sym typeface="Raleway"/>
                </a:rPr>
                <a:t>hy is your solution better than competitor's #2?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-123825"/>
              <a:ext cx="4496259" cy="606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79"/>
                </a:lnSpc>
              </a:pPr>
              <a:r>
                <a:rPr lang="en-US" b="true" sz="2400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Competitor 2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702577" y="6496050"/>
            <a:ext cx="3372194" cy="1405890"/>
            <a:chOff x="0" y="0"/>
            <a:chExt cx="4496259" cy="1874520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555625"/>
              <a:ext cx="4496259" cy="13188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2100">
                  <a:solidFill>
                    <a:srgbClr val="737373"/>
                  </a:solidFill>
                  <a:latin typeface="Raleway"/>
                  <a:ea typeface="Raleway"/>
                  <a:cs typeface="Raleway"/>
                  <a:sym typeface="Raleway"/>
                </a:rPr>
                <a:t>W</a:t>
              </a:r>
              <a:r>
                <a:rPr lang="en-US" sz="2100">
                  <a:solidFill>
                    <a:srgbClr val="737373"/>
                  </a:solidFill>
                  <a:latin typeface="Raleway"/>
                  <a:ea typeface="Raleway"/>
                  <a:cs typeface="Raleway"/>
                  <a:sym typeface="Raleway"/>
                </a:rPr>
                <a:t>hy is your solution better than competitor's #3?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-123825"/>
              <a:ext cx="4496259" cy="606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79"/>
                </a:lnSpc>
              </a:pPr>
              <a:r>
                <a:rPr lang="en-US" b="true" sz="2400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Competitor 3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2224505" y="9546643"/>
            <a:ext cx="5048214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99"/>
              </a:lnSpc>
            </a:pPr>
            <a:r>
              <a:rPr lang="en-US" sz="19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MSOE Hackthsgiving 2025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69527" y="-145960"/>
            <a:ext cx="12648549" cy="10563059"/>
            <a:chOff x="0" y="0"/>
            <a:chExt cx="3382176" cy="28245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82176" cy="2824523"/>
            </a:xfrm>
            <a:custGeom>
              <a:avLst/>
              <a:gdLst/>
              <a:ahLst/>
              <a:cxnLst/>
              <a:rect r="r" b="b" t="t" l="l"/>
              <a:pathLst>
                <a:path h="2824523" w="3382176">
                  <a:moveTo>
                    <a:pt x="0" y="0"/>
                  </a:moveTo>
                  <a:lnTo>
                    <a:pt x="3382176" y="0"/>
                  </a:lnTo>
                  <a:lnTo>
                    <a:pt x="3382176" y="2824523"/>
                  </a:lnTo>
                  <a:lnTo>
                    <a:pt x="0" y="2824523"/>
                  </a:lnTo>
                  <a:close/>
                </a:path>
              </a:pathLst>
            </a:custGeom>
            <a:solidFill>
              <a:srgbClr val="F9F9F9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2440853"/>
            <a:ext cx="6211443" cy="2257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80"/>
              </a:lnSpc>
            </a:pPr>
            <a:r>
              <a:rPr lang="en-US" sz="7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Target Market  Opportunity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8700" y="5143500"/>
            <a:ext cx="3680548" cy="2548890"/>
            <a:chOff x="0" y="0"/>
            <a:chExt cx="4907398" cy="339852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368425"/>
              <a:ext cx="4907398" cy="20300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2100">
                  <a:solidFill>
                    <a:srgbClr val="737373"/>
                  </a:solidFill>
                  <a:latin typeface="Raleway"/>
                  <a:ea typeface="Raleway"/>
                  <a:cs typeface="Raleway"/>
                  <a:sym typeface="Raleway"/>
                </a:rPr>
                <a:t>Define your potential customers and the total size of your target market.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123825"/>
              <a:ext cx="4907398" cy="1292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79"/>
                </a:lnSpc>
              </a:pPr>
              <a:r>
                <a:rPr lang="en-US" sz="2400" b="true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How big is the market your company is after?</a:t>
              </a:r>
            </a:p>
          </p:txBody>
        </p:sp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351763" y="841161"/>
            <a:ext cx="8641043" cy="8245131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2224505" y="9546643"/>
            <a:ext cx="5048214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99"/>
              </a:lnSpc>
            </a:pPr>
            <a:r>
              <a:rPr lang="en-US" sz="19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MSOE Hackthsgiving 2025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69527" y="-145960"/>
            <a:ext cx="12648549" cy="10563059"/>
            <a:chOff x="0" y="0"/>
            <a:chExt cx="3382176" cy="28245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82176" cy="2824523"/>
            </a:xfrm>
            <a:custGeom>
              <a:avLst/>
              <a:gdLst/>
              <a:ahLst/>
              <a:cxnLst/>
              <a:rect r="r" b="b" t="t" l="l"/>
              <a:pathLst>
                <a:path h="2824523" w="3382176">
                  <a:moveTo>
                    <a:pt x="0" y="0"/>
                  </a:moveTo>
                  <a:lnTo>
                    <a:pt x="3382176" y="0"/>
                  </a:lnTo>
                  <a:lnTo>
                    <a:pt x="3382176" y="2824523"/>
                  </a:lnTo>
                  <a:lnTo>
                    <a:pt x="0" y="2824523"/>
                  </a:lnTo>
                  <a:close/>
                </a:path>
              </a:pathLst>
            </a:custGeom>
            <a:solidFill>
              <a:srgbClr val="F9F9F9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2440853"/>
            <a:ext cx="6211443" cy="2257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80"/>
              </a:lnSpc>
            </a:pPr>
            <a:r>
              <a:rPr lang="en-US" sz="7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Target Market  Opportunity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8700" y="5143500"/>
            <a:ext cx="3680548" cy="2548890"/>
            <a:chOff x="0" y="0"/>
            <a:chExt cx="4907398" cy="339852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368425"/>
              <a:ext cx="4907398" cy="20300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2100">
                  <a:solidFill>
                    <a:srgbClr val="737373"/>
                  </a:solidFill>
                  <a:latin typeface="Raleway"/>
                  <a:ea typeface="Raleway"/>
                  <a:cs typeface="Raleway"/>
                  <a:sym typeface="Raleway"/>
                </a:rPr>
                <a:t>Define your potential customers and the total size of your target market.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123825"/>
              <a:ext cx="4907398" cy="1292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79"/>
                </a:lnSpc>
              </a:pPr>
              <a:r>
                <a:rPr lang="en-US" sz="2400" b="true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How big is the market your company is after?</a:t>
              </a:r>
            </a:p>
          </p:txBody>
        </p:sp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937918" y="624379"/>
            <a:ext cx="9077872" cy="9038243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2224505" y="9546643"/>
            <a:ext cx="5048214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99"/>
              </a:lnSpc>
            </a:pPr>
            <a:r>
              <a:rPr lang="en-US" sz="19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MSOE Hackthsgiving 2025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028700" y="-125730"/>
            <a:ext cx="8115300" cy="5421518"/>
          </a:xfrm>
          <a:custGeom>
            <a:avLst/>
            <a:gdLst/>
            <a:ahLst/>
            <a:cxnLst/>
            <a:rect r="r" b="b" t="t" l="l"/>
            <a:pathLst>
              <a:path h="5421518" w="8115300">
                <a:moveTo>
                  <a:pt x="8115300" y="0"/>
                </a:moveTo>
                <a:lnTo>
                  <a:pt x="0" y="0"/>
                </a:lnTo>
                <a:lnTo>
                  <a:pt x="0" y="5421518"/>
                </a:lnTo>
                <a:lnTo>
                  <a:pt x="8115300" y="5421518"/>
                </a:lnTo>
                <a:lnTo>
                  <a:pt x="8115300" y="0"/>
                </a:lnTo>
                <a:close/>
              </a:path>
            </a:pathLst>
          </a:custGeom>
          <a:blipFill>
            <a:blip r:embed="rId2"/>
            <a:stretch>
              <a:fillRect l="-104" t="0" r="-10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097057" y="1451554"/>
            <a:ext cx="8087870" cy="2257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80"/>
              </a:lnSpc>
            </a:pPr>
            <a:r>
              <a:rPr lang="en-US" sz="7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Busin</a:t>
            </a:r>
            <a:r>
              <a:rPr lang="en-US" sz="7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ess Model &amp; Revenue Streams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9201150"/>
            <a:ext cx="1042203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099" spc="41" b="true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10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8700" y="6252210"/>
            <a:ext cx="4897799" cy="1939290"/>
            <a:chOff x="0" y="0"/>
            <a:chExt cx="6530398" cy="258572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555625"/>
              <a:ext cx="5667361" cy="20300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2100">
                  <a:solidFill>
                    <a:srgbClr val="737373"/>
                  </a:solidFill>
                  <a:latin typeface="Raleway"/>
                  <a:ea typeface="Raleway"/>
                  <a:cs typeface="Raleway"/>
                  <a:sym typeface="Raleway"/>
                </a:rPr>
                <a:t>Describe how your product or service makes money, and what  the expected revenues are.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123825"/>
              <a:ext cx="6530398" cy="606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79"/>
                </a:lnSpc>
              </a:pPr>
              <a:r>
                <a:rPr lang="en-US" sz="2400" b="true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Revenue Stream 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091621" y="6252210"/>
            <a:ext cx="4897799" cy="1939290"/>
            <a:chOff x="0" y="0"/>
            <a:chExt cx="6530398" cy="258572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555625"/>
              <a:ext cx="5667361" cy="20300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2100">
                  <a:solidFill>
                    <a:srgbClr val="737373"/>
                  </a:solidFill>
                  <a:latin typeface="Raleway"/>
                  <a:ea typeface="Raleway"/>
                  <a:cs typeface="Raleway"/>
                  <a:sym typeface="Raleway"/>
                </a:rPr>
                <a:t>Describe how your product or service makes money, and what</a:t>
              </a:r>
              <a:r>
                <a:rPr lang="en-US" sz="2100">
                  <a:solidFill>
                    <a:srgbClr val="737373"/>
                  </a:solidFill>
                  <a:latin typeface="Raleway"/>
                  <a:ea typeface="Raleway"/>
                  <a:cs typeface="Raleway"/>
                  <a:sym typeface="Raleway"/>
                </a:rPr>
                <a:t> the expected revenues are.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123825"/>
              <a:ext cx="6530398" cy="606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79"/>
                </a:lnSpc>
              </a:pPr>
              <a:r>
                <a:rPr lang="en-US" sz="2400" b="true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Revenue Stream 2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154542" y="6252210"/>
            <a:ext cx="4897799" cy="1939290"/>
            <a:chOff x="0" y="0"/>
            <a:chExt cx="6530398" cy="258572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555625"/>
              <a:ext cx="5667361" cy="20300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2100">
                  <a:solidFill>
                    <a:srgbClr val="737373"/>
                  </a:solidFill>
                  <a:latin typeface="Raleway"/>
                  <a:ea typeface="Raleway"/>
                  <a:cs typeface="Raleway"/>
                  <a:sym typeface="Raleway"/>
                </a:rPr>
                <a:t>Describe how your product or service makes money, and what</a:t>
              </a:r>
              <a:r>
                <a:rPr lang="en-US" sz="2100">
                  <a:solidFill>
                    <a:srgbClr val="737373"/>
                  </a:solidFill>
                  <a:latin typeface="Raleway"/>
                  <a:ea typeface="Raleway"/>
                  <a:cs typeface="Raleway"/>
                  <a:sym typeface="Raleway"/>
                </a:rPr>
                <a:t> the expected revenues are.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123825"/>
              <a:ext cx="6530398" cy="606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79"/>
                </a:lnSpc>
              </a:pPr>
              <a:r>
                <a:rPr lang="en-US" sz="2400" b="true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Revenue Stream 3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2224505" y="9546643"/>
            <a:ext cx="5048214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99"/>
              </a:lnSpc>
            </a:pPr>
            <a:r>
              <a:rPr lang="en-US" sz="19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MSOE Hackthsgiving 2025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6690949"/>
            <a:ext cx="16230600" cy="0"/>
          </a:xfrm>
          <a:prstGeom prst="line">
            <a:avLst/>
          </a:prstGeom>
          <a:ln cap="rnd" w="47625">
            <a:solidFill>
              <a:srgbClr val="EDEDED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883435" y="6488141"/>
            <a:ext cx="453241" cy="453241"/>
          </a:xfrm>
          <a:custGeom>
            <a:avLst/>
            <a:gdLst/>
            <a:ahLst/>
            <a:cxnLst/>
            <a:rect r="r" b="b" t="t" l="l"/>
            <a:pathLst>
              <a:path h="453241" w="453241">
                <a:moveTo>
                  <a:pt x="0" y="0"/>
                </a:moveTo>
                <a:lnTo>
                  <a:pt x="453241" y="0"/>
                </a:lnTo>
                <a:lnTo>
                  <a:pt x="453241" y="453241"/>
                </a:lnTo>
                <a:lnTo>
                  <a:pt x="0" y="4532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400407" y="6488141"/>
            <a:ext cx="453241" cy="453241"/>
          </a:xfrm>
          <a:custGeom>
            <a:avLst/>
            <a:gdLst/>
            <a:ahLst/>
            <a:cxnLst/>
            <a:rect r="r" b="b" t="t" l="l"/>
            <a:pathLst>
              <a:path h="453241" w="453241">
                <a:moveTo>
                  <a:pt x="0" y="0"/>
                </a:moveTo>
                <a:lnTo>
                  <a:pt x="453242" y="0"/>
                </a:lnTo>
                <a:lnTo>
                  <a:pt x="453242" y="453241"/>
                </a:lnTo>
                <a:lnTo>
                  <a:pt x="0" y="4532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917379" y="6488141"/>
            <a:ext cx="453241" cy="453241"/>
          </a:xfrm>
          <a:custGeom>
            <a:avLst/>
            <a:gdLst/>
            <a:ahLst/>
            <a:cxnLst/>
            <a:rect r="r" b="b" t="t" l="l"/>
            <a:pathLst>
              <a:path h="453241" w="453241">
                <a:moveTo>
                  <a:pt x="0" y="0"/>
                </a:moveTo>
                <a:lnTo>
                  <a:pt x="453242" y="0"/>
                </a:lnTo>
                <a:lnTo>
                  <a:pt x="453242" y="453241"/>
                </a:lnTo>
                <a:lnTo>
                  <a:pt x="0" y="4532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434351" y="6488141"/>
            <a:ext cx="453241" cy="453241"/>
          </a:xfrm>
          <a:custGeom>
            <a:avLst/>
            <a:gdLst/>
            <a:ahLst/>
            <a:cxnLst/>
            <a:rect r="r" b="b" t="t" l="l"/>
            <a:pathLst>
              <a:path h="453241" w="453241">
                <a:moveTo>
                  <a:pt x="0" y="0"/>
                </a:moveTo>
                <a:lnTo>
                  <a:pt x="453242" y="0"/>
                </a:lnTo>
                <a:lnTo>
                  <a:pt x="453242" y="453241"/>
                </a:lnTo>
                <a:lnTo>
                  <a:pt x="0" y="4532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951324" y="6488141"/>
            <a:ext cx="453241" cy="453241"/>
          </a:xfrm>
          <a:custGeom>
            <a:avLst/>
            <a:gdLst/>
            <a:ahLst/>
            <a:cxnLst/>
            <a:rect r="r" b="b" t="t" l="l"/>
            <a:pathLst>
              <a:path h="453241" w="453241">
                <a:moveTo>
                  <a:pt x="0" y="0"/>
                </a:moveTo>
                <a:lnTo>
                  <a:pt x="453241" y="0"/>
                </a:lnTo>
                <a:lnTo>
                  <a:pt x="453241" y="453241"/>
                </a:lnTo>
                <a:lnTo>
                  <a:pt x="0" y="4532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4424312" y="1028700"/>
            <a:ext cx="9439376" cy="2167890"/>
            <a:chOff x="0" y="0"/>
            <a:chExt cx="12585834" cy="289052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9525"/>
              <a:ext cx="12585834" cy="1508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880"/>
                </a:lnSpc>
              </a:pPr>
              <a:r>
                <a:rPr lang="en-US" sz="7400">
                  <a:solidFill>
                    <a:srgbClr val="000000"/>
                  </a:solidFill>
                  <a:latin typeface="Raleway"/>
                  <a:ea typeface="Raleway"/>
                  <a:cs typeface="Raleway"/>
                  <a:sym typeface="Raleway"/>
                </a:rPr>
                <a:t>Traction/Milestones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571625"/>
              <a:ext cx="12585834" cy="13188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2100">
                  <a:solidFill>
                    <a:srgbClr val="737373"/>
                  </a:solidFill>
                  <a:latin typeface="Raleway"/>
                  <a:ea typeface="Raleway"/>
                  <a:cs typeface="Raleway"/>
                  <a:sym typeface="Raleway"/>
                </a:rPr>
                <a:t>Boost your business model by providing a proof of validation that your solution really works to solve the problem you have identified.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23959" y="4167845"/>
            <a:ext cx="3372194" cy="1939290"/>
            <a:chOff x="0" y="0"/>
            <a:chExt cx="4496259" cy="258572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555625"/>
              <a:ext cx="4496259" cy="20300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2100">
                  <a:solidFill>
                    <a:srgbClr val="737373"/>
                  </a:solidFill>
                  <a:latin typeface="Raleway"/>
                  <a:ea typeface="Raleway"/>
                  <a:cs typeface="Raleway"/>
                  <a:sym typeface="Raleway"/>
                </a:rPr>
                <a:t>Explain an event worth mentioning for your company.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123825"/>
              <a:ext cx="4496259" cy="606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79"/>
                </a:lnSpc>
              </a:pPr>
              <a:r>
                <a:rPr lang="en-US" b="true" sz="2400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Milestone 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940931" y="7319010"/>
            <a:ext cx="3372194" cy="1939290"/>
            <a:chOff x="0" y="0"/>
            <a:chExt cx="4496259" cy="2585720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555625"/>
              <a:ext cx="4496259" cy="20300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2100">
                  <a:solidFill>
                    <a:srgbClr val="737373"/>
                  </a:solidFill>
                  <a:latin typeface="Raleway"/>
                  <a:ea typeface="Raleway"/>
                  <a:cs typeface="Raleway"/>
                  <a:sym typeface="Raleway"/>
                </a:rPr>
                <a:t>Explain an event worth mentioning for your company.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-123825"/>
              <a:ext cx="4496259" cy="606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79"/>
                </a:lnSpc>
              </a:pPr>
              <a:r>
                <a:rPr lang="en-US" b="true" sz="2400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Milestone 2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457903" y="4167845"/>
            <a:ext cx="3372194" cy="1939290"/>
            <a:chOff x="0" y="0"/>
            <a:chExt cx="4496259" cy="2585720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555625"/>
              <a:ext cx="4496259" cy="20300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2100">
                  <a:solidFill>
                    <a:srgbClr val="737373"/>
                  </a:solidFill>
                  <a:latin typeface="Raleway"/>
                  <a:ea typeface="Raleway"/>
                  <a:cs typeface="Raleway"/>
                  <a:sym typeface="Raleway"/>
                </a:rPr>
                <a:t>Explain an event worth mentioning for your company.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-123825"/>
              <a:ext cx="4496259" cy="606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79"/>
                </a:lnSpc>
              </a:pPr>
              <a:r>
                <a:rPr lang="en-US" b="true" sz="2400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Milestone 3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491847" y="4167845"/>
            <a:ext cx="3372194" cy="1939290"/>
            <a:chOff x="0" y="0"/>
            <a:chExt cx="4496259" cy="2585720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555625"/>
              <a:ext cx="4496259" cy="20300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2100">
                  <a:solidFill>
                    <a:srgbClr val="737373"/>
                  </a:solidFill>
                  <a:latin typeface="Raleway"/>
                  <a:ea typeface="Raleway"/>
                  <a:cs typeface="Raleway"/>
                  <a:sym typeface="Raleway"/>
                </a:rPr>
                <a:t>Explain an event worth mentioning for your company.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-123825"/>
              <a:ext cx="4496259" cy="606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79"/>
                </a:lnSpc>
              </a:pPr>
              <a:r>
                <a:rPr lang="en-US" b="true" sz="2400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Milestone 5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974875" y="7319010"/>
            <a:ext cx="3372194" cy="1939290"/>
            <a:chOff x="0" y="0"/>
            <a:chExt cx="4496259" cy="2585720"/>
          </a:xfrm>
        </p:grpSpPr>
        <p:sp>
          <p:nvSpPr>
            <p:cNvPr name="TextBox 24" id="24"/>
            <p:cNvSpPr txBox="true"/>
            <p:nvPr/>
          </p:nvSpPr>
          <p:spPr>
            <a:xfrm rot="0">
              <a:off x="0" y="555625"/>
              <a:ext cx="4496259" cy="20300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2100">
                  <a:solidFill>
                    <a:srgbClr val="737373"/>
                  </a:solidFill>
                  <a:latin typeface="Raleway"/>
                  <a:ea typeface="Raleway"/>
                  <a:cs typeface="Raleway"/>
                  <a:sym typeface="Raleway"/>
                </a:rPr>
                <a:t>Explain an event worth mentioning for your company.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0" y="-123825"/>
              <a:ext cx="4496259" cy="606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79"/>
                </a:lnSpc>
              </a:pPr>
              <a:r>
                <a:rPr lang="en-US" b="true" sz="2400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Milestone 4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2224505" y="9546643"/>
            <a:ext cx="5048214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99"/>
              </a:lnSpc>
            </a:pPr>
            <a:r>
              <a:rPr lang="en-US" sz="19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MSOE Hackthsgiving 2025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19175"/>
            <a:ext cx="5286584" cy="2257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80"/>
              </a:lnSpc>
            </a:pPr>
            <a:r>
              <a:rPr lang="en-US" sz="7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Marketing &amp; Sales Plan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7343718" y="1028700"/>
            <a:ext cx="4634074" cy="2472690"/>
            <a:chOff x="0" y="0"/>
            <a:chExt cx="6178766" cy="329692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555625"/>
              <a:ext cx="6178766" cy="27412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2100">
                  <a:solidFill>
                    <a:srgbClr val="737373"/>
                  </a:solidFill>
                  <a:latin typeface="Raleway"/>
                  <a:ea typeface="Raleway"/>
                  <a:cs typeface="Raleway"/>
                  <a:sym typeface="Raleway"/>
                </a:rPr>
                <a:t>What is your marketing and sales plan? How you are planning to promote your product or service to  prospective customers.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123825"/>
              <a:ext cx="6178766" cy="606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79"/>
                </a:lnSpc>
              </a:pPr>
              <a:r>
                <a:rPr lang="en-US" sz="2400" b="true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Marketing Strategy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6254106"/>
            <a:ext cx="17397136" cy="4176815"/>
          </a:xfrm>
          <a:custGeom>
            <a:avLst/>
            <a:gdLst/>
            <a:ahLst/>
            <a:cxnLst/>
            <a:rect r="r" b="b" t="t" l="l"/>
            <a:pathLst>
              <a:path h="4176815" w="17397136">
                <a:moveTo>
                  <a:pt x="0" y="0"/>
                </a:moveTo>
                <a:lnTo>
                  <a:pt x="17397136" y="0"/>
                </a:lnTo>
                <a:lnTo>
                  <a:pt x="17397136" y="4176815"/>
                </a:lnTo>
                <a:lnTo>
                  <a:pt x="0" y="41768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8838" r="0" b="-88838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2625226" y="1028700"/>
            <a:ext cx="4634074" cy="2472690"/>
            <a:chOff x="0" y="0"/>
            <a:chExt cx="6178766" cy="329692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555625"/>
              <a:ext cx="6178766" cy="27412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2100">
                  <a:solidFill>
                    <a:srgbClr val="737373"/>
                  </a:solidFill>
                  <a:latin typeface="Raleway"/>
                  <a:ea typeface="Raleway"/>
                  <a:cs typeface="Raleway"/>
                  <a:sym typeface="Raleway"/>
                </a:rPr>
                <a:t>What is your marketing and sales plan? How you are planning to promote your product or service to</a:t>
              </a:r>
              <a:r>
                <a:rPr lang="en-US" sz="2100">
                  <a:solidFill>
                    <a:srgbClr val="737373"/>
                  </a:solidFill>
                  <a:latin typeface="Raleway"/>
                  <a:ea typeface="Raleway"/>
                  <a:cs typeface="Raleway"/>
                  <a:sym typeface="Raleway"/>
                </a:rPr>
                <a:t> prospective customers.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-123825"/>
              <a:ext cx="6178766" cy="606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79"/>
                </a:lnSpc>
              </a:pPr>
              <a:r>
                <a:rPr lang="en-US" sz="2400" b="true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Sales Strategy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2224505" y="9546643"/>
            <a:ext cx="5048214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99"/>
              </a:lnSpc>
            </a:pPr>
            <a:r>
              <a:rPr lang="en-US" sz="19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MSOE Hackthsgiving 2025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0500" y="-133350"/>
            <a:ext cx="10267006" cy="10553592"/>
            <a:chOff x="0" y="0"/>
            <a:chExt cx="1885745" cy="19383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85745" cy="1938382"/>
            </a:xfrm>
            <a:custGeom>
              <a:avLst/>
              <a:gdLst/>
              <a:ahLst/>
              <a:cxnLst/>
              <a:rect r="r" b="b" t="t" l="l"/>
              <a:pathLst>
                <a:path h="1938382" w="1885745">
                  <a:moveTo>
                    <a:pt x="0" y="0"/>
                  </a:moveTo>
                  <a:lnTo>
                    <a:pt x="1885745" y="0"/>
                  </a:lnTo>
                  <a:lnTo>
                    <a:pt x="1885745" y="1938382"/>
                  </a:lnTo>
                  <a:lnTo>
                    <a:pt x="0" y="1938382"/>
                  </a:lnTo>
                  <a:close/>
                </a:path>
              </a:pathLst>
            </a:custGeom>
            <a:solidFill>
              <a:srgbClr val="F9F9F9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2886121"/>
            <a:ext cx="8115300" cy="2257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80"/>
              </a:lnSpc>
            </a:pPr>
            <a:r>
              <a:rPr lang="en-US" sz="7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The I</a:t>
            </a:r>
            <a:r>
              <a:rPr lang="en-US" sz="7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nvestment / Use of Funds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1385741" y="4173901"/>
            <a:ext cx="5346078" cy="1939290"/>
            <a:chOff x="0" y="0"/>
            <a:chExt cx="7128103" cy="258572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555625"/>
              <a:ext cx="7128103" cy="20300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2100">
                  <a:solidFill>
                    <a:srgbClr val="737373"/>
                  </a:solidFill>
                  <a:latin typeface="Raleway"/>
                  <a:ea typeface="Raleway"/>
                  <a:cs typeface="Raleway"/>
                  <a:sym typeface="Raleway"/>
                </a:rPr>
                <a:t>Investors like to see that you have a plan. Explain how you expect to deploy the funds you are raising.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123825"/>
              <a:ext cx="7128103" cy="606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79"/>
                </a:lnSpc>
              </a:pPr>
              <a:r>
                <a:rPr lang="en-US" sz="2400" b="true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Use 2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9201150"/>
            <a:ext cx="1042203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099" spc="41" b="true">
                <a:solidFill>
                  <a:srgbClr val="000000"/>
                </a:solidFill>
                <a:latin typeface="Raleway Heavy"/>
                <a:ea typeface="Raleway Heavy"/>
                <a:cs typeface="Raleway Heavy"/>
                <a:sym typeface="Raleway Heavy"/>
              </a:rPr>
              <a:t>14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5341712"/>
            <a:ext cx="6059066" cy="1567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2100">
                <a:solidFill>
                  <a:srgbClr val="737373"/>
                </a:solidFill>
                <a:latin typeface="Raleway"/>
                <a:ea typeface="Raleway"/>
                <a:cs typeface="Raleway"/>
                <a:sym typeface="Raleway"/>
              </a:rPr>
              <a:t>Finally, ask for th</a:t>
            </a:r>
            <a:r>
              <a:rPr lang="en-US" sz="2100">
                <a:solidFill>
                  <a:srgbClr val="737373"/>
                </a:solidFill>
                <a:latin typeface="Raleway"/>
                <a:ea typeface="Raleway"/>
                <a:cs typeface="Raleway"/>
                <a:sym typeface="Raleway"/>
              </a:rPr>
              <a:t>e money. How much money are you seeking, and how are you planning to use it to achieve your business goals.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1385741" y="1343025"/>
            <a:ext cx="5346078" cy="1939290"/>
            <a:chOff x="0" y="0"/>
            <a:chExt cx="7128103" cy="2585720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555625"/>
              <a:ext cx="7128103" cy="20300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2100">
                  <a:solidFill>
                    <a:srgbClr val="737373"/>
                  </a:solidFill>
                  <a:latin typeface="Raleway"/>
                  <a:ea typeface="Raleway"/>
                  <a:cs typeface="Raleway"/>
                  <a:sym typeface="Raleway"/>
                </a:rPr>
                <a:t>Investors like to see that you have a plan. Explain how you expect to deploy the funds you are raising.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-123825"/>
              <a:ext cx="7128103" cy="606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79"/>
                </a:lnSpc>
              </a:pPr>
              <a:r>
                <a:rPr lang="en-US" sz="2400" b="true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Use 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385741" y="7004777"/>
            <a:ext cx="4899394" cy="1939290"/>
            <a:chOff x="0" y="0"/>
            <a:chExt cx="6532525" cy="2585720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555625"/>
              <a:ext cx="6532525" cy="20300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2100">
                  <a:solidFill>
                    <a:srgbClr val="737373"/>
                  </a:solidFill>
                  <a:latin typeface="Raleway"/>
                  <a:ea typeface="Raleway"/>
                  <a:cs typeface="Raleway"/>
                  <a:sym typeface="Raleway"/>
                </a:rPr>
                <a:t>Investors like to see that you have a plan. Explain how you expect to deploy the funds you are raising.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-123825"/>
              <a:ext cx="6532525" cy="606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79"/>
                </a:lnSpc>
              </a:pPr>
              <a:r>
                <a:rPr lang="en-US" sz="2400" b="true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Use 3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20958" y="2314575"/>
            <a:ext cx="12446083" cy="5657850"/>
            <a:chOff x="0" y="0"/>
            <a:chExt cx="4210157" cy="19138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10157" cy="1913890"/>
            </a:xfrm>
            <a:custGeom>
              <a:avLst/>
              <a:gdLst/>
              <a:ahLst/>
              <a:cxnLst/>
              <a:rect r="r" b="b" t="t" l="l"/>
              <a:pathLst>
                <a:path h="1913890" w="4210157">
                  <a:moveTo>
                    <a:pt x="0" y="0"/>
                  </a:moveTo>
                  <a:lnTo>
                    <a:pt x="4210157" y="0"/>
                  </a:lnTo>
                  <a:lnTo>
                    <a:pt x="4210157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4890629" y="3415665"/>
            <a:ext cx="8506741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80"/>
              </a:lnSpc>
            </a:pPr>
            <a:r>
              <a:rPr lang="en-US" sz="7400">
                <a:solidFill>
                  <a:srgbClr val="F9F9F9"/>
                </a:solidFill>
                <a:latin typeface="Raleway"/>
                <a:ea typeface="Raleway"/>
                <a:cs typeface="Raleway"/>
                <a:sym typeface="Raleway"/>
              </a:rPr>
              <a:t>Thank You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900385" y="4796790"/>
            <a:ext cx="8487229" cy="451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b="true" sz="2400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Contact Information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900385" y="5495925"/>
            <a:ext cx="8487229" cy="1365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2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www.reallygreatsite.com</a:t>
            </a:r>
          </a:p>
          <a:p>
            <a:pPr algn="ctr">
              <a:lnSpc>
                <a:spcPts val="3600"/>
              </a:lnSpc>
            </a:pPr>
            <a:r>
              <a:rPr lang="en-US" sz="2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hello@reallygreatsite.com</a:t>
            </a:r>
          </a:p>
          <a:p>
            <a:pPr algn="ctr">
              <a:lnSpc>
                <a:spcPts val="3600"/>
              </a:lnSpc>
            </a:pPr>
            <a:r>
              <a:rPr lang="en-US" sz="2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+123-456-7890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224505" y="9546643"/>
            <a:ext cx="5048214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99"/>
              </a:lnSpc>
            </a:pPr>
            <a:r>
              <a:rPr lang="en-US" sz="19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MSOE Hackthsgiving 2025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738FF7272A15F4DA651704CC179C222" ma:contentTypeVersion="21" ma:contentTypeDescription="Create a new document." ma:contentTypeScope="" ma:versionID="45a71c02550ece1178e86c10b03bcf16">
  <xsd:schema xmlns:xsd="http://www.w3.org/2001/XMLSchema" xmlns:xs="http://www.w3.org/2001/XMLSchema" xmlns:p="http://schemas.microsoft.com/office/2006/metadata/properties" xmlns:ns2="875ca35f-1f90-42d7-be22-1f1827475124" xmlns:ns3="4b8d6291-7d3a-47fb-9464-827e5a8f3469" targetNamespace="http://schemas.microsoft.com/office/2006/metadata/properties" ma:root="true" ma:fieldsID="fa944e05b38c0b1301a43c7dee086532" ns2:_="" ns3:_="">
    <xsd:import namespace="875ca35f-1f90-42d7-be22-1f1827475124"/>
    <xsd:import namespace="4b8d6291-7d3a-47fb-9464-827e5a8f346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FileOrigi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5ca35f-1f90-42d7-be22-1f182747512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e4a10208-d7fa-491d-867d-77e07dc86e1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2" nillable="true" ma:displayName="Location" ma:internalName="MediaServiceLocation" ma:readOnly="true">
      <xsd:simpleType>
        <xsd:restriction base="dms:Text"/>
      </xsd:simpleType>
    </xsd:element>
    <xsd:element name="FileOrigin" ma:index="23" nillable="true" ma:displayName="File Origin" ma:format="Dropdown" ma:internalName="FileOrigin">
      <xsd:simpleType>
        <xsd:restriction base="dms:Note">
          <xsd:maxLength value="255"/>
        </xsd:restriction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8d6291-7d3a-47fb-9464-827e5a8f3469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20bf44d7-3b6f-4e32-b037-7e1ec2e19881}" ma:internalName="TaxCatchAll" ma:showField="CatchAllData" ma:web="4b8d6291-7d3a-47fb-9464-827e5a8f346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FileOrigin xmlns="875ca35f-1f90-42d7-be22-1f1827475124" xsi:nil="true"/>
    <TaxCatchAll xmlns="4b8d6291-7d3a-47fb-9464-827e5a8f3469" xsi:nil="true"/>
    <lcf76f155ced4ddcb4097134ff3c332f xmlns="875ca35f-1f90-42d7-be22-1f1827475124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946A0F9-3D03-4991-BF8B-1185B089DD3C}"/>
</file>

<file path=customXml/itemProps2.xml><?xml version="1.0" encoding="utf-8"?>
<ds:datastoreItem xmlns:ds="http://schemas.openxmlformats.org/officeDocument/2006/customXml" ds:itemID="{82E3AE21-B297-4B65-ACA3-BD97D1B2CE47}"/>
</file>

<file path=customXml/itemProps3.xml><?xml version="1.0" encoding="utf-8"?>
<ds:datastoreItem xmlns:ds="http://schemas.openxmlformats.org/officeDocument/2006/customXml" ds:itemID="{D69E82A0-596C-4D80-B4D6-22F3AD700934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and Clean Investor Deck Presentation</dc:title>
  <cp:revision>1</cp:revision>
  <dcterms:created xsi:type="dcterms:W3CDTF">2006-08-16T00:00:00Z</dcterms:created>
  <dcterms:modified xsi:type="dcterms:W3CDTF">2011-08-01T06:04:30Z</dcterms:modified>
  <dc:identifier>DAG3Xefhxog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0x0101001738FF7272A15F4DA651704CC179C222</vt:lpwstr>
  </property>
</Properties>
</file>