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rchive" panose="020B0604020202020204" charset="0"/>
      <p:regular r:id="rId17"/>
    </p:embeddedFont>
    <p:embeddedFont>
      <p:font typeface="Arimo" panose="020B0604020202020204" charset="0"/>
      <p:regular r:id="rId18"/>
    </p:embeddedFont>
    <p:embeddedFont>
      <p:font typeface="Arimo Bold" panose="020B0604020202020204" charset="0"/>
      <p:regular r:id="rId19"/>
    </p:embeddedFont>
    <p:embeddedFont>
      <p:font typeface="Gabriel Sans Bold" panose="020B0604020202020204" charset="0"/>
      <p:regular r:id="rId20"/>
    </p:embeddedFont>
    <p:embeddedFont>
      <p:font typeface="Gabriel Sans Condense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7" d="100"/>
          <a:sy n="57" d="100"/>
        </p:scale>
        <p:origin x="7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lamova, Nadya" userId="8d63f8ea-cc27-453b-b0f3-57865cf7a072" providerId="ADAL" clId="{93D72450-88CE-4DBA-8465-041741CBB93F}"/>
    <pc:docChg chg="custSel modSld">
      <pc:chgData name="Shalamova, Nadya" userId="8d63f8ea-cc27-453b-b0f3-57865cf7a072" providerId="ADAL" clId="{93D72450-88CE-4DBA-8465-041741CBB93F}" dt="2025-10-31T13:51:53.187" v="118" actId="1076"/>
      <pc:docMkLst>
        <pc:docMk/>
      </pc:docMkLst>
      <pc:sldChg chg="delSp modSp mod">
        <pc:chgData name="Shalamova, Nadya" userId="8d63f8ea-cc27-453b-b0f3-57865cf7a072" providerId="ADAL" clId="{93D72450-88CE-4DBA-8465-041741CBB93F}" dt="2025-10-31T13:51:53.187" v="118" actId="1076"/>
        <pc:sldMkLst>
          <pc:docMk/>
          <pc:sldMk cId="0" sldId="256"/>
        </pc:sldMkLst>
        <pc:spChg chg="del">
          <ac:chgData name="Shalamova, Nadya" userId="8d63f8ea-cc27-453b-b0f3-57865cf7a072" providerId="ADAL" clId="{93D72450-88CE-4DBA-8465-041741CBB93F}" dt="2025-10-31T13:51:03.436" v="33" actId="478"/>
          <ac:spMkLst>
            <pc:docMk/>
            <pc:sldMk cId="0" sldId="256"/>
            <ac:spMk id="3" creationId="{00000000-0000-0000-0000-000000000000}"/>
          </ac:spMkLst>
        </pc:spChg>
        <pc:spChg chg="mod">
          <ac:chgData name="Shalamova, Nadya" userId="8d63f8ea-cc27-453b-b0f3-57865cf7a072" providerId="ADAL" clId="{93D72450-88CE-4DBA-8465-041741CBB93F}" dt="2025-10-31T13:51:00.955" v="32" actId="20577"/>
          <ac:spMkLst>
            <pc:docMk/>
            <pc:sldMk cId="0" sldId="256"/>
            <ac:spMk id="5" creationId="{00000000-0000-0000-0000-000000000000}"/>
          </ac:spMkLst>
        </pc:spChg>
        <pc:spChg chg="mod">
          <ac:chgData name="Shalamova, Nadya" userId="8d63f8ea-cc27-453b-b0f3-57865cf7a072" providerId="ADAL" clId="{93D72450-88CE-4DBA-8465-041741CBB93F}" dt="2025-10-31T13:51:08.944" v="47" actId="6549"/>
          <ac:spMkLst>
            <pc:docMk/>
            <pc:sldMk cId="0" sldId="256"/>
            <ac:spMk id="6" creationId="{00000000-0000-0000-0000-000000000000}"/>
          </ac:spMkLst>
        </pc:spChg>
        <pc:spChg chg="del">
          <ac:chgData name="Shalamova, Nadya" userId="8d63f8ea-cc27-453b-b0f3-57865cf7a072" providerId="ADAL" clId="{93D72450-88CE-4DBA-8465-041741CBB93F}" dt="2025-10-31T13:50:50.301" v="0" actId="478"/>
          <ac:spMkLst>
            <pc:docMk/>
            <pc:sldMk cId="0" sldId="256"/>
            <ac:spMk id="7" creationId="{00000000-0000-0000-0000-000000000000}"/>
          </ac:spMkLst>
        </pc:spChg>
        <pc:spChg chg="mod">
          <ac:chgData name="Shalamova, Nadya" userId="8d63f8ea-cc27-453b-b0f3-57865cf7a072" providerId="ADAL" clId="{93D72450-88CE-4DBA-8465-041741CBB93F}" dt="2025-10-31T13:51:53.187" v="118" actId="1076"/>
          <ac:spMkLst>
            <pc:docMk/>
            <pc:sldMk cId="0" sldId="256"/>
            <ac:spMk id="8" creationId="{00000000-0000-0000-0000-000000000000}"/>
          </ac:spMkLst>
        </pc:spChg>
        <pc:spChg chg="del">
          <ac:chgData name="Shalamova, Nadya" userId="8d63f8ea-cc27-453b-b0f3-57865cf7a072" providerId="ADAL" clId="{93D72450-88CE-4DBA-8465-041741CBB93F}" dt="2025-10-31T13:51:48.396" v="117" actId="478"/>
          <ac:spMkLst>
            <pc:docMk/>
            <pc:sldMk cId="0" sldId="256"/>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40454"/>
            <a:ext cx="10002722" cy="11767908"/>
          </a:xfrm>
          <a:custGeom>
            <a:avLst/>
            <a:gdLst/>
            <a:ahLst/>
            <a:cxnLst/>
            <a:rect l="l" t="t" r="r" b="b"/>
            <a:pathLst>
              <a:path w="10002722" h="11767908">
                <a:moveTo>
                  <a:pt x="0" y="0"/>
                </a:moveTo>
                <a:lnTo>
                  <a:pt x="10002722" y="0"/>
                </a:lnTo>
                <a:lnTo>
                  <a:pt x="10002722" y="11767908"/>
                </a:lnTo>
                <a:lnTo>
                  <a:pt x="0" y="117679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5314126" y="3505200"/>
            <a:ext cx="11945174" cy="3390900"/>
          </a:xfrm>
          <a:prstGeom prst="rect">
            <a:avLst/>
          </a:prstGeom>
        </p:spPr>
        <p:txBody>
          <a:bodyPr lIns="0" tIns="0" rIns="0" bIns="0" rtlCol="0" anchor="t">
            <a:spAutoFit/>
          </a:bodyPr>
          <a:lstStyle/>
          <a:p>
            <a:pPr algn="l">
              <a:lnSpc>
                <a:spcPts val="13200"/>
              </a:lnSpc>
            </a:pPr>
            <a:r>
              <a:rPr lang="en-US" sz="12000">
                <a:solidFill>
                  <a:srgbClr val="000000"/>
                </a:solidFill>
                <a:latin typeface="Archive"/>
                <a:ea typeface="Archive"/>
                <a:cs typeface="Archive"/>
                <a:sym typeface="Archive"/>
              </a:rPr>
              <a:t>STARTUP </a:t>
            </a:r>
          </a:p>
          <a:p>
            <a:pPr algn="l">
              <a:lnSpc>
                <a:spcPts val="13200"/>
              </a:lnSpc>
            </a:pPr>
            <a:r>
              <a:rPr lang="en-US" sz="12000">
                <a:solidFill>
                  <a:srgbClr val="000000"/>
                </a:solidFill>
                <a:latin typeface="Archive"/>
                <a:ea typeface="Archive"/>
                <a:cs typeface="Archive"/>
                <a:sym typeface="Archive"/>
              </a:rPr>
              <a:t>PITCH DECK</a:t>
            </a:r>
          </a:p>
        </p:txBody>
      </p:sp>
      <p:sp>
        <p:nvSpPr>
          <p:cNvPr id="5" name="TextBox 5"/>
          <p:cNvSpPr txBox="1"/>
          <p:nvPr/>
        </p:nvSpPr>
        <p:spPr>
          <a:xfrm>
            <a:off x="12668730" y="834423"/>
            <a:ext cx="3862062" cy="429605"/>
          </a:xfrm>
          <a:prstGeom prst="rect">
            <a:avLst/>
          </a:prstGeom>
        </p:spPr>
        <p:txBody>
          <a:bodyPr lIns="0" tIns="0" rIns="0" bIns="0" rtlCol="0" anchor="t">
            <a:spAutoFit/>
          </a:bodyPr>
          <a:lstStyle/>
          <a:p>
            <a:pPr algn="r">
              <a:lnSpc>
                <a:spcPts val="3640"/>
              </a:lnSpc>
              <a:spcBef>
                <a:spcPct val="0"/>
              </a:spcBef>
            </a:pPr>
            <a:r>
              <a:rPr lang="en-US" sz="2600" spc="260" dirty="0">
                <a:solidFill>
                  <a:srgbClr val="000000"/>
                </a:solidFill>
                <a:latin typeface="Gabriel Sans Condensed"/>
                <a:ea typeface="Gabriel Sans Condensed"/>
                <a:cs typeface="Gabriel Sans Condensed"/>
                <a:sym typeface="Gabriel Sans Condensed"/>
              </a:rPr>
              <a:t>Team Name  &amp; Logo</a:t>
            </a:r>
          </a:p>
        </p:txBody>
      </p:sp>
      <p:sp>
        <p:nvSpPr>
          <p:cNvPr id="6" name="TextBox 6"/>
          <p:cNvSpPr txBox="1"/>
          <p:nvPr/>
        </p:nvSpPr>
        <p:spPr>
          <a:xfrm>
            <a:off x="5314126" y="6941591"/>
            <a:ext cx="11945174" cy="512961"/>
          </a:xfrm>
          <a:prstGeom prst="rect">
            <a:avLst/>
          </a:prstGeom>
        </p:spPr>
        <p:txBody>
          <a:bodyPr lIns="0" tIns="0" rIns="0" bIns="0" rtlCol="0" anchor="t">
            <a:spAutoFit/>
          </a:bodyPr>
          <a:lstStyle/>
          <a:p>
            <a:pPr algn="l">
              <a:lnSpc>
                <a:spcPts val="4339"/>
              </a:lnSpc>
              <a:spcBef>
                <a:spcPct val="0"/>
              </a:spcBef>
            </a:pPr>
            <a:r>
              <a:rPr lang="en-US" sz="3099" b="1" spc="309" dirty="0">
                <a:solidFill>
                  <a:srgbClr val="000000"/>
                </a:solidFill>
                <a:latin typeface="Gabriel Sans Bold"/>
                <a:ea typeface="Gabriel Sans Bold"/>
                <a:cs typeface="Gabriel Sans Bold"/>
                <a:sym typeface="Gabriel Sans Bold"/>
              </a:rPr>
              <a:t>Present by …  </a:t>
            </a:r>
          </a:p>
        </p:txBody>
      </p:sp>
      <p:sp>
        <p:nvSpPr>
          <p:cNvPr id="8" name="TextBox 8"/>
          <p:cNvSpPr txBox="1"/>
          <p:nvPr/>
        </p:nvSpPr>
        <p:spPr>
          <a:xfrm>
            <a:off x="10972800" y="9452577"/>
            <a:ext cx="6058042" cy="346249"/>
          </a:xfrm>
          <a:prstGeom prst="rect">
            <a:avLst/>
          </a:prstGeom>
        </p:spPr>
        <p:txBody>
          <a:bodyPr lIns="0" tIns="0" rIns="0" bIns="0" rtlCol="0" anchor="t">
            <a:spAutoFit/>
          </a:bodyPr>
          <a:lstStyle/>
          <a:p>
            <a:pPr algn="r">
              <a:lnSpc>
                <a:spcPts val="2940"/>
              </a:lnSpc>
              <a:spcBef>
                <a:spcPct val="0"/>
              </a:spcBef>
            </a:pPr>
            <a:r>
              <a:rPr lang="en-US" sz="2100" spc="210" dirty="0">
                <a:solidFill>
                  <a:srgbClr val="000000"/>
                </a:solidFill>
                <a:latin typeface="Gabriel Sans Condensed"/>
                <a:ea typeface="Gabriel Sans Condensed"/>
                <a:cs typeface="Gabriel Sans Condensed"/>
                <a:sym typeface="Gabriel Sans Condensed"/>
              </a:rPr>
              <a:t>MSOE </a:t>
            </a:r>
            <a:r>
              <a:rPr lang="en-US" sz="2100" spc="210" dirty="0" err="1">
                <a:solidFill>
                  <a:srgbClr val="000000"/>
                </a:solidFill>
                <a:latin typeface="Gabriel Sans Condensed"/>
                <a:ea typeface="Gabriel Sans Condensed"/>
                <a:cs typeface="Gabriel Sans Condensed"/>
                <a:sym typeface="Gabriel Sans Condensed"/>
              </a:rPr>
              <a:t>Hacksgiving</a:t>
            </a:r>
            <a:r>
              <a:rPr lang="en-US" sz="2100" spc="210" dirty="0">
                <a:solidFill>
                  <a:srgbClr val="000000"/>
                </a:solidFill>
                <a:latin typeface="Gabriel Sans Condensed"/>
                <a:ea typeface="Gabriel Sans Condensed"/>
                <a:cs typeface="Gabriel Sans Condensed"/>
                <a:sym typeface="Gabriel Sans Condensed"/>
              </a:rPr>
              <a:t> 2025 </a:t>
            </a:r>
          </a:p>
        </p:txBody>
      </p:sp>
      <p:sp>
        <p:nvSpPr>
          <p:cNvPr id="10" name="AutoShape 10"/>
          <p:cNvSpPr/>
          <p:nvPr/>
        </p:nvSpPr>
        <p:spPr>
          <a:xfrm>
            <a:off x="17287875" y="7562621"/>
            <a:ext cx="0" cy="2724379"/>
          </a:xfrm>
          <a:prstGeom prst="line">
            <a:avLst/>
          </a:prstGeom>
          <a:ln w="38100" cap="flat">
            <a:solidFill>
              <a:srgbClr val="C00303"/>
            </a:solidFill>
            <a:prstDash val="solid"/>
            <a:headEnd type="oval" w="lg" len="lg"/>
            <a:tailEnd type="none" w="sm" len="sm"/>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17086" y="3016207"/>
            <a:ext cx="21194399" cy="3617451"/>
          </a:xfrm>
          <a:custGeom>
            <a:avLst/>
            <a:gdLst/>
            <a:ahLst/>
            <a:cxnLst/>
            <a:rect l="l" t="t" r="r" b="b"/>
            <a:pathLst>
              <a:path w="21194399" h="3617451">
                <a:moveTo>
                  <a:pt x="0" y="0"/>
                </a:moveTo>
                <a:lnTo>
                  <a:pt x="21194399" y="0"/>
                </a:lnTo>
                <a:lnTo>
                  <a:pt x="21194399" y="3617450"/>
                </a:lnTo>
                <a:lnTo>
                  <a:pt x="0" y="3617450"/>
                </a:lnTo>
                <a:lnTo>
                  <a:pt x="0" y="0"/>
                </a:lnTo>
                <a:close/>
              </a:path>
            </a:pathLst>
          </a:custGeom>
          <a:blipFill>
            <a:blip r:embed="rId2"/>
            <a:stretch>
              <a:fillRect t="-45833" b="-220349"/>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Freeform 2"/>
          <p:cNvSpPr/>
          <p:nvPr/>
        </p:nvSpPr>
        <p:spPr>
          <a:xfrm rot="4092938">
            <a:off x="-1283829" y="1992791"/>
            <a:ext cx="6237352" cy="6143792"/>
          </a:xfrm>
          <a:custGeom>
            <a:avLst/>
            <a:gdLst/>
            <a:ahLst/>
            <a:cxnLst/>
            <a:rect l="l" t="t" r="r" b="b"/>
            <a:pathLst>
              <a:path w="6237352" h="6143792">
                <a:moveTo>
                  <a:pt x="0" y="0"/>
                </a:moveTo>
                <a:lnTo>
                  <a:pt x="6237352" y="0"/>
                </a:lnTo>
                <a:lnTo>
                  <a:pt x="6237352" y="6143792"/>
                </a:lnTo>
                <a:lnTo>
                  <a:pt x="0" y="61437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748301" y="7562621"/>
            <a:ext cx="0" cy="2724379"/>
          </a:xfrm>
          <a:prstGeom prst="line">
            <a:avLst/>
          </a:prstGeom>
          <a:ln w="38100" cap="flat">
            <a:solidFill>
              <a:srgbClr val="C00303"/>
            </a:solidFill>
            <a:prstDash val="solid"/>
            <a:headEnd type="oval" w="lg" len="lg"/>
            <a:tailEnd type="none" w="sm" len="sm"/>
          </a:ln>
        </p:spPr>
        <p:txBody>
          <a:bodyPr/>
          <a:lstStyle/>
          <a:p>
            <a:endParaRPr lang="en-US"/>
          </a:p>
        </p:txBody>
      </p:sp>
      <p:grpSp>
        <p:nvGrpSpPr>
          <p:cNvPr id="4" name="Group 4"/>
          <p:cNvGrpSpPr/>
          <p:nvPr/>
        </p:nvGrpSpPr>
        <p:grpSpPr>
          <a:xfrm>
            <a:off x="9711319" y="1028700"/>
            <a:ext cx="2328469" cy="232846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74580" t="-3763" r="-95216" b="-76326"/>
              </a:stretch>
            </a:blipFill>
          </p:spPr>
          <p:txBody>
            <a:bodyPr/>
            <a:lstStyle/>
            <a:p>
              <a:endParaRPr lang="en-US"/>
            </a:p>
          </p:txBody>
        </p:sp>
      </p:grpSp>
      <p:grpSp>
        <p:nvGrpSpPr>
          <p:cNvPr id="6" name="Group 6"/>
          <p:cNvGrpSpPr/>
          <p:nvPr/>
        </p:nvGrpSpPr>
        <p:grpSpPr>
          <a:xfrm>
            <a:off x="9711319" y="5433592"/>
            <a:ext cx="2328469" cy="232846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9131" t="-752" r="-58285" b="-37439"/>
              </a:stretch>
            </a:blipFill>
          </p:spPr>
          <p:txBody>
            <a:bodyPr/>
            <a:lstStyle/>
            <a:p>
              <a:endParaRPr lang="en-US"/>
            </a:p>
          </p:txBody>
        </p:sp>
      </p:grpSp>
      <p:grpSp>
        <p:nvGrpSpPr>
          <p:cNvPr id="8" name="Group 8"/>
          <p:cNvGrpSpPr/>
          <p:nvPr/>
        </p:nvGrpSpPr>
        <p:grpSpPr>
          <a:xfrm>
            <a:off x="14706535" y="1028700"/>
            <a:ext cx="2328469" cy="232846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02080" t="-24837" r="-103321" b="-78636"/>
              </a:stretch>
            </a:blipFill>
          </p:spPr>
          <p:txBody>
            <a:bodyPr/>
            <a:lstStyle/>
            <a:p>
              <a:endParaRPr lang="en-US"/>
            </a:p>
          </p:txBody>
        </p:sp>
      </p:grpSp>
      <p:grpSp>
        <p:nvGrpSpPr>
          <p:cNvPr id="10" name="Group 10"/>
          <p:cNvGrpSpPr/>
          <p:nvPr/>
        </p:nvGrpSpPr>
        <p:grpSpPr>
          <a:xfrm>
            <a:off x="14706535" y="5433592"/>
            <a:ext cx="2328469" cy="232846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153312" t="-18815" r="-61785" b="-91511"/>
              </a:stretch>
            </a:blipFill>
          </p:spPr>
          <p:txBody>
            <a:bodyPr/>
            <a:lstStyle/>
            <a:p>
              <a:endParaRPr lang="en-US"/>
            </a:p>
          </p:txBody>
        </p:sp>
      </p:grpSp>
      <p:sp>
        <p:nvSpPr>
          <p:cNvPr id="12" name="TextBox 12"/>
          <p:cNvSpPr txBox="1"/>
          <p:nvPr/>
        </p:nvSpPr>
        <p:spPr>
          <a:xfrm>
            <a:off x="748301" y="1039979"/>
            <a:ext cx="7491210" cy="2552700"/>
          </a:xfrm>
          <a:prstGeom prst="rect">
            <a:avLst/>
          </a:prstGeom>
        </p:spPr>
        <p:txBody>
          <a:bodyPr lIns="0" tIns="0" rIns="0" bIns="0" rtlCol="0" anchor="t">
            <a:spAutoFit/>
          </a:bodyPr>
          <a:lstStyle/>
          <a:p>
            <a:pPr algn="l">
              <a:lnSpc>
                <a:spcPts val="9900"/>
              </a:lnSpc>
            </a:pPr>
            <a:r>
              <a:rPr lang="en-US" sz="9000">
                <a:solidFill>
                  <a:srgbClr val="000000"/>
                </a:solidFill>
                <a:latin typeface="Archive"/>
                <a:ea typeface="Archive"/>
                <a:cs typeface="Archive"/>
                <a:sym typeface="Archive"/>
              </a:rPr>
              <a:t>MEET THE TEAM</a:t>
            </a:r>
          </a:p>
        </p:txBody>
      </p:sp>
      <p:sp>
        <p:nvSpPr>
          <p:cNvPr id="13" name="TextBox 13"/>
          <p:cNvSpPr txBox="1"/>
          <p:nvPr/>
        </p:nvSpPr>
        <p:spPr>
          <a:xfrm>
            <a:off x="748301" y="3562071"/>
            <a:ext cx="7491210" cy="988695"/>
          </a:xfrm>
          <a:prstGeom prst="rect">
            <a:avLst/>
          </a:prstGeom>
        </p:spPr>
        <p:txBody>
          <a:bodyPr lIns="0" tIns="0" rIns="0" bIns="0" rtlCol="0" anchor="t">
            <a:spAutoFit/>
          </a:bodyPr>
          <a:lstStyle/>
          <a:p>
            <a:pPr algn="just">
              <a:lnSpc>
                <a:spcPts val="3780"/>
              </a:lnSpc>
              <a:spcBef>
                <a:spcPct val="0"/>
              </a:spcBef>
            </a:pPr>
            <a:r>
              <a:rPr lang="en-US" sz="2700" spc="270">
                <a:solidFill>
                  <a:srgbClr val="000000"/>
                </a:solidFill>
                <a:latin typeface="Gabriel Sans Condensed"/>
                <a:ea typeface="Gabriel Sans Condensed"/>
                <a:cs typeface="Gabriel Sans Condensed"/>
                <a:sym typeface="Gabriel Sans Condensed"/>
              </a:rPr>
              <a:t>Thank you for your time! Reach out to us for questions.</a:t>
            </a:r>
          </a:p>
        </p:txBody>
      </p:sp>
      <p:sp>
        <p:nvSpPr>
          <p:cNvPr id="14" name="TextBox 14"/>
          <p:cNvSpPr txBox="1"/>
          <p:nvPr/>
        </p:nvSpPr>
        <p:spPr>
          <a:xfrm>
            <a:off x="9144000" y="3562071"/>
            <a:ext cx="3463106" cy="479425"/>
          </a:xfrm>
          <a:prstGeom prst="rect">
            <a:avLst/>
          </a:prstGeom>
        </p:spPr>
        <p:txBody>
          <a:bodyPr lIns="0" tIns="0" rIns="0" bIns="0" rtlCol="0" anchor="t">
            <a:spAutoFit/>
          </a:bodyPr>
          <a:lstStyle/>
          <a:p>
            <a:pPr algn="ctr">
              <a:lnSpc>
                <a:spcPts val="3500"/>
              </a:lnSpc>
              <a:spcBef>
                <a:spcPct val="0"/>
              </a:spcBef>
            </a:pPr>
            <a:r>
              <a:rPr lang="en-US" sz="2500" b="1" spc="250">
                <a:solidFill>
                  <a:srgbClr val="000000"/>
                </a:solidFill>
                <a:latin typeface="Gabriel Sans Bold"/>
                <a:ea typeface="Gabriel Sans Bold"/>
                <a:cs typeface="Gabriel Sans Bold"/>
                <a:sym typeface="Gabriel Sans Bold"/>
              </a:rPr>
              <a:t>Dani Martinez</a:t>
            </a:r>
          </a:p>
        </p:txBody>
      </p:sp>
      <p:sp>
        <p:nvSpPr>
          <p:cNvPr id="15" name="TextBox 15"/>
          <p:cNvSpPr txBox="1"/>
          <p:nvPr/>
        </p:nvSpPr>
        <p:spPr>
          <a:xfrm>
            <a:off x="9144000" y="7971610"/>
            <a:ext cx="3463106" cy="479425"/>
          </a:xfrm>
          <a:prstGeom prst="rect">
            <a:avLst/>
          </a:prstGeom>
        </p:spPr>
        <p:txBody>
          <a:bodyPr lIns="0" tIns="0" rIns="0" bIns="0" rtlCol="0" anchor="t">
            <a:spAutoFit/>
          </a:bodyPr>
          <a:lstStyle/>
          <a:p>
            <a:pPr algn="ctr">
              <a:lnSpc>
                <a:spcPts val="3500"/>
              </a:lnSpc>
              <a:spcBef>
                <a:spcPct val="0"/>
              </a:spcBef>
            </a:pPr>
            <a:r>
              <a:rPr lang="en-US" sz="2500" b="1" spc="250">
                <a:solidFill>
                  <a:srgbClr val="000000"/>
                </a:solidFill>
                <a:latin typeface="Gabriel Sans Bold"/>
                <a:ea typeface="Gabriel Sans Bold"/>
                <a:cs typeface="Gabriel Sans Bold"/>
                <a:sym typeface="Gabriel Sans Bold"/>
              </a:rPr>
              <a:t>Morgan Maxwell</a:t>
            </a:r>
          </a:p>
        </p:txBody>
      </p:sp>
      <p:sp>
        <p:nvSpPr>
          <p:cNvPr id="16" name="TextBox 16"/>
          <p:cNvSpPr txBox="1"/>
          <p:nvPr/>
        </p:nvSpPr>
        <p:spPr>
          <a:xfrm>
            <a:off x="14139217" y="3562071"/>
            <a:ext cx="3463106" cy="479425"/>
          </a:xfrm>
          <a:prstGeom prst="rect">
            <a:avLst/>
          </a:prstGeom>
        </p:spPr>
        <p:txBody>
          <a:bodyPr lIns="0" tIns="0" rIns="0" bIns="0" rtlCol="0" anchor="t">
            <a:spAutoFit/>
          </a:bodyPr>
          <a:lstStyle/>
          <a:p>
            <a:pPr algn="ctr">
              <a:lnSpc>
                <a:spcPts val="3500"/>
              </a:lnSpc>
              <a:spcBef>
                <a:spcPct val="0"/>
              </a:spcBef>
            </a:pPr>
            <a:r>
              <a:rPr lang="en-US" sz="2500" b="1" spc="250">
                <a:solidFill>
                  <a:srgbClr val="000000"/>
                </a:solidFill>
                <a:latin typeface="Gabriel Sans Bold"/>
                <a:ea typeface="Gabriel Sans Bold"/>
                <a:cs typeface="Gabriel Sans Bold"/>
                <a:sym typeface="Gabriel Sans Bold"/>
              </a:rPr>
              <a:t>Harper Russo</a:t>
            </a:r>
          </a:p>
        </p:txBody>
      </p:sp>
      <p:sp>
        <p:nvSpPr>
          <p:cNvPr id="17" name="TextBox 17"/>
          <p:cNvSpPr txBox="1"/>
          <p:nvPr/>
        </p:nvSpPr>
        <p:spPr>
          <a:xfrm>
            <a:off x="14139217" y="7971610"/>
            <a:ext cx="3463106" cy="479425"/>
          </a:xfrm>
          <a:prstGeom prst="rect">
            <a:avLst/>
          </a:prstGeom>
        </p:spPr>
        <p:txBody>
          <a:bodyPr lIns="0" tIns="0" rIns="0" bIns="0" rtlCol="0" anchor="t">
            <a:spAutoFit/>
          </a:bodyPr>
          <a:lstStyle/>
          <a:p>
            <a:pPr algn="ctr">
              <a:lnSpc>
                <a:spcPts val="3500"/>
              </a:lnSpc>
              <a:spcBef>
                <a:spcPct val="0"/>
              </a:spcBef>
            </a:pPr>
            <a:r>
              <a:rPr lang="en-US" sz="2500" b="1" spc="250">
                <a:solidFill>
                  <a:srgbClr val="000000"/>
                </a:solidFill>
                <a:latin typeface="Gabriel Sans Bold"/>
                <a:ea typeface="Gabriel Sans Bold"/>
                <a:cs typeface="Gabriel Sans Bold"/>
                <a:sym typeface="Gabriel Sans Bold"/>
              </a:rPr>
              <a:t>Neil Tran</a:t>
            </a:r>
          </a:p>
        </p:txBody>
      </p:sp>
      <p:sp>
        <p:nvSpPr>
          <p:cNvPr id="18" name="TextBox 18"/>
          <p:cNvSpPr txBox="1"/>
          <p:nvPr/>
        </p:nvSpPr>
        <p:spPr>
          <a:xfrm>
            <a:off x="9144000" y="4181831"/>
            <a:ext cx="3463106" cy="43688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Chief Executive Officer</a:t>
            </a:r>
          </a:p>
        </p:txBody>
      </p:sp>
      <p:sp>
        <p:nvSpPr>
          <p:cNvPr id="19" name="TextBox 19"/>
          <p:cNvSpPr txBox="1"/>
          <p:nvPr/>
        </p:nvSpPr>
        <p:spPr>
          <a:xfrm>
            <a:off x="9144000" y="8591370"/>
            <a:ext cx="3463106" cy="43688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Chief Executive Officer</a:t>
            </a:r>
          </a:p>
        </p:txBody>
      </p:sp>
      <p:sp>
        <p:nvSpPr>
          <p:cNvPr id="20" name="TextBox 20"/>
          <p:cNvSpPr txBox="1"/>
          <p:nvPr/>
        </p:nvSpPr>
        <p:spPr>
          <a:xfrm>
            <a:off x="14139217" y="4181831"/>
            <a:ext cx="3463106" cy="43688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Chief Executive Officer</a:t>
            </a:r>
          </a:p>
        </p:txBody>
      </p:sp>
      <p:sp>
        <p:nvSpPr>
          <p:cNvPr id="21" name="TextBox 21"/>
          <p:cNvSpPr txBox="1"/>
          <p:nvPr/>
        </p:nvSpPr>
        <p:spPr>
          <a:xfrm>
            <a:off x="14139217" y="8591370"/>
            <a:ext cx="3463106" cy="43688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Director</a:t>
            </a:r>
          </a:p>
        </p:txBody>
      </p:sp>
      <p:sp>
        <p:nvSpPr>
          <p:cNvPr id="22" name="TextBox 22"/>
          <p:cNvSpPr txBox="1"/>
          <p:nvPr/>
        </p:nvSpPr>
        <p:spPr>
          <a:xfrm>
            <a:off x="1028700" y="8098293"/>
            <a:ext cx="6058042" cy="403859"/>
          </a:xfrm>
          <a:prstGeom prst="rect">
            <a:avLst/>
          </a:prstGeom>
        </p:spPr>
        <p:txBody>
          <a:bodyPr lIns="0" tIns="0" rIns="0" bIns="0" rtlCol="0" anchor="t">
            <a:spAutoFit/>
          </a:bodyPr>
          <a:lstStyle/>
          <a:p>
            <a:pPr algn="l">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www.reallygreatsite.com </a:t>
            </a:r>
          </a:p>
        </p:txBody>
      </p:sp>
      <p:sp>
        <p:nvSpPr>
          <p:cNvPr id="23" name="TextBox 23"/>
          <p:cNvSpPr txBox="1"/>
          <p:nvPr/>
        </p:nvSpPr>
        <p:spPr>
          <a:xfrm>
            <a:off x="1028700" y="8624390"/>
            <a:ext cx="6058042" cy="403859"/>
          </a:xfrm>
          <a:prstGeom prst="rect">
            <a:avLst/>
          </a:prstGeom>
        </p:spPr>
        <p:txBody>
          <a:bodyPr lIns="0" tIns="0" rIns="0" bIns="0" rtlCol="0" anchor="t">
            <a:spAutoFit/>
          </a:bodyPr>
          <a:lstStyle/>
          <a:p>
            <a:pPr algn="l">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hello@reallygreatsite.com</a:t>
            </a:r>
          </a:p>
        </p:txBody>
      </p:sp>
      <p:sp>
        <p:nvSpPr>
          <p:cNvPr id="24" name="TextBox 24"/>
          <p:cNvSpPr txBox="1"/>
          <p:nvPr/>
        </p:nvSpPr>
        <p:spPr>
          <a:xfrm>
            <a:off x="1028700" y="9150487"/>
            <a:ext cx="6058042" cy="403859"/>
          </a:xfrm>
          <a:prstGeom prst="rect">
            <a:avLst/>
          </a:prstGeom>
        </p:spPr>
        <p:txBody>
          <a:bodyPr lIns="0" tIns="0" rIns="0" bIns="0" rtlCol="0" anchor="t">
            <a:spAutoFit/>
          </a:bodyPr>
          <a:lstStyle/>
          <a:p>
            <a:pPr algn="l">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123 Anywhere Street., Any City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flipV="1">
            <a:off x="729251" y="0"/>
            <a:ext cx="0" cy="2335379"/>
          </a:xfrm>
          <a:prstGeom prst="line">
            <a:avLst/>
          </a:prstGeom>
          <a:ln w="38100" cap="flat">
            <a:solidFill>
              <a:srgbClr val="C00303"/>
            </a:solidFill>
            <a:prstDash val="solid"/>
            <a:headEnd type="oval" w="lg" len="lg"/>
            <a:tailEnd type="none" w="sm" len="sm"/>
          </a:ln>
        </p:spPr>
        <p:txBody>
          <a:bodyPr/>
          <a:lstStyle/>
          <a:p>
            <a:endParaRPr lang="en-US"/>
          </a:p>
        </p:txBody>
      </p:sp>
      <p:grpSp>
        <p:nvGrpSpPr>
          <p:cNvPr id="3" name="Group 3"/>
          <p:cNvGrpSpPr/>
          <p:nvPr/>
        </p:nvGrpSpPr>
        <p:grpSpPr>
          <a:xfrm>
            <a:off x="1028700" y="2854683"/>
            <a:ext cx="1041832" cy="104183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01</a:t>
              </a:r>
            </a:p>
          </p:txBody>
        </p:sp>
      </p:grpSp>
      <p:grpSp>
        <p:nvGrpSpPr>
          <p:cNvPr id="6" name="Group 6"/>
          <p:cNvGrpSpPr/>
          <p:nvPr/>
        </p:nvGrpSpPr>
        <p:grpSpPr>
          <a:xfrm>
            <a:off x="9718672" y="2854683"/>
            <a:ext cx="1041832" cy="104183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8" name="TextBox 8"/>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06</a:t>
              </a:r>
            </a:p>
          </p:txBody>
        </p:sp>
      </p:grpSp>
      <p:grpSp>
        <p:nvGrpSpPr>
          <p:cNvPr id="9" name="Group 9"/>
          <p:cNvGrpSpPr/>
          <p:nvPr/>
        </p:nvGrpSpPr>
        <p:grpSpPr>
          <a:xfrm>
            <a:off x="1028700" y="4232263"/>
            <a:ext cx="1041832" cy="104183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1" name="TextBox 11"/>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02</a:t>
              </a:r>
            </a:p>
          </p:txBody>
        </p:sp>
      </p:grpSp>
      <p:grpSp>
        <p:nvGrpSpPr>
          <p:cNvPr id="12" name="Group 12"/>
          <p:cNvGrpSpPr/>
          <p:nvPr/>
        </p:nvGrpSpPr>
        <p:grpSpPr>
          <a:xfrm>
            <a:off x="9718672" y="4232263"/>
            <a:ext cx="1041832" cy="104183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4" name="TextBox 14"/>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07</a:t>
              </a:r>
            </a:p>
          </p:txBody>
        </p:sp>
      </p:grpSp>
      <p:grpSp>
        <p:nvGrpSpPr>
          <p:cNvPr id="15" name="Group 15"/>
          <p:cNvGrpSpPr/>
          <p:nvPr/>
        </p:nvGrpSpPr>
        <p:grpSpPr>
          <a:xfrm>
            <a:off x="1028700" y="5609843"/>
            <a:ext cx="1041832" cy="104183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7" name="TextBox 17"/>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03</a:t>
              </a:r>
            </a:p>
          </p:txBody>
        </p:sp>
      </p:grpSp>
      <p:grpSp>
        <p:nvGrpSpPr>
          <p:cNvPr id="18" name="Group 18"/>
          <p:cNvGrpSpPr/>
          <p:nvPr/>
        </p:nvGrpSpPr>
        <p:grpSpPr>
          <a:xfrm>
            <a:off x="9718672" y="5609843"/>
            <a:ext cx="1041832" cy="104183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0" name="TextBox 20"/>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08</a:t>
              </a:r>
            </a:p>
          </p:txBody>
        </p:sp>
      </p:grpSp>
      <p:grpSp>
        <p:nvGrpSpPr>
          <p:cNvPr id="21" name="Group 21"/>
          <p:cNvGrpSpPr/>
          <p:nvPr/>
        </p:nvGrpSpPr>
        <p:grpSpPr>
          <a:xfrm>
            <a:off x="1028700" y="6987423"/>
            <a:ext cx="1041832" cy="104183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3" name="TextBox 23"/>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04</a:t>
              </a:r>
            </a:p>
          </p:txBody>
        </p:sp>
      </p:grpSp>
      <p:grpSp>
        <p:nvGrpSpPr>
          <p:cNvPr id="24" name="Group 24"/>
          <p:cNvGrpSpPr/>
          <p:nvPr/>
        </p:nvGrpSpPr>
        <p:grpSpPr>
          <a:xfrm>
            <a:off x="9718672" y="6987423"/>
            <a:ext cx="1041832" cy="104183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6" name="TextBox 26"/>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09</a:t>
              </a:r>
            </a:p>
          </p:txBody>
        </p:sp>
      </p:grpSp>
      <p:grpSp>
        <p:nvGrpSpPr>
          <p:cNvPr id="27" name="Group 27"/>
          <p:cNvGrpSpPr/>
          <p:nvPr/>
        </p:nvGrpSpPr>
        <p:grpSpPr>
          <a:xfrm>
            <a:off x="1028700" y="8365003"/>
            <a:ext cx="1041832" cy="104183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9" name="TextBox 29"/>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05</a:t>
              </a:r>
            </a:p>
          </p:txBody>
        </p:sp>
      </p:grpSp>
      <p:grpSp>
        <p:nvGrpSpPr>
          <p:cNvPr id="30" name="Group 30"/>
          <p:cNvGrpSpPr/>
          <p:nvPr/>
        </p:nvGrpSpPr>
        <p:grpSpPr>
          <a:xfrm>
            <a:off x="9718672" y="8365003"/>
            <a:ext cx="1041832" cy="1041832"/>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32" name="TextBox 32"/>
            <p:cNvSpPr txBox="1"/>
            <p:nvPr/>
          </p:nvSpPr>
          <p:spPr>
            <a:xfrm>
              <a:off x="76200" y="9525"/>
              <a:ext cx="660400" cy="727075"/>
            </a:xfrm>
            <a:prstGeom prst="rect">
              <a:avLst/>
            </a:prstGeom>
          </p:spPr>
          <p:txBody>
            <a:bodyPr lIns="50800" tIns="50800" rIns="50800" bIns="50800" rtlCol="0" anchor="ctr"/>
            <a:lstStyle/>
            <a:p>
              <a:pPr algn="ctr">
                <a:lnSpc>
                  <a:spcPts val="5039"/>
                </a:lnSpc>
              </a:pPr>
              <a:r>
                <a:rPr lang="en-US" sz="3599" spc="359">
                  <a:solidFill>
                    <a:srgbClr val="FFFFFF"/>
                  </a:solidFill>
                  <a:latin typeface="Archive"/>
                  <a:ea typeface="Archive"/>
                  <a:cs typeface="Archive"/>
                  <a:sym typeface="Archive"/>
                </a:rPr>
                <a:t>10</a:t>
              </a:r>
            </a:p>
          </p:txBody>
        </p:sp>
      </p:grpSp>
      <p:sp>
        <p:nvSpPr>
          <p:cNvPr id="33" name="TextBox 33"/>
          <p:cNvSpPr txBox="1"/>
          <p:nvPr/>
        </p:nvSpPr>
        <p:spPr>
          <a:xfrm>
            <a:off x="1028700" y="1039979"/>
            <a:ext cx="10973120" cy="1295400"/>
          </a:xfrm>
          <a:prstGeom prst="rect">
            <a:avLst/>
          </a:prstGeom>
        </p:spPr>
        <p:txBody>
          <a:bodyPr lIns="0" tIns="0" rIns="0" bIns="0" rtlCol="0" anchor="t">
            <a:spAutoFit/>
          </a:bodyPr>
          <a:lstStyle/>
          <a:p>
            <a:pPr algn="l">
              <a:lnSpc>
                <a:spcPts val="9900"/>
              </a:lnSpc>
            </a:pPr>
            <a:r>
              <a:rPr lang="en-US" sz="9000">
                <a:solidFill>
                  <a:srgbClr val="000000"/>
                </a:solidFill>
                <a:latin typeface="Archive"/>
                <a:ea typeface="Archive"/>
                <a:cs typeface="Archive"/>
                <a:sym typeface="Archive"/>
              </a:rPr>
              <a:t>TODAY'S AGENDA</a:t>
            </a:r>
          </a:p>
        </p:txBody>
      </p:sp>
      <p:sp>
        <p:nvSpPr>
          <p:cNvPr id="34" name="TextBox 34"/>
          <p:cNvSpPr txBox="1"/>
          <p:nvPr/>
        </p:nvSpPr>
        <p:spPr>
          <a:xfrm>
            <a:off x="2342613" y="3075245"/>
            <a:ext cx="6223637"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INTRODUCTION</a:t>
            </a:r>
          </a:p>
        </p:txBody>
      </p:sp>
      <p:sp>
        <p:nvSpPr>
          <p:cNvPr id="35" name="TextBox 35"/>
          <p:cNvSpPr txBox="1"/>
          <p:nvPr/>
        </p:nvSpPr>
        <p:spPr>
          <a:xfrm>
            <a:off x="11032585" y="3075245"/>
            <a:ext cx="6226715"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TRACTION</a:t>
            </a:r>
          </a:p>
        </p:txBody>
      </p:sp>
      <p:sp>
        <p:nvSpPr>
          <p:cNvPr id="36" name="TextBox 36"/>
          <p:cNvSpPr txBox="1"/>
          <p:nvPr/>
        </p:nvSpPr>
        <p:spPr>
          <a:xfrm>
            <a:off x="2342613" y="4452824"/>
            <a:ext cx="6223637"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PROBLEM STATEMENT</a:t>
            </a:r>
          </a:p>
        </p:txBody>
      </p:sp>
      <p:sp>
        <p:nvSpPr>
          <p:cNvPr id="37" name="TextBox 37"/>
          <p:cNvSpPr txBox="1"/>
          <p:nvPr/>
        </p:nvSpPr>
        <p:spPr>
          <a:xfrm>
            <a:off x="10760505" y="4973741"/>
            <a:ext cx="6226715"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REVENUE MODEL</a:t>
            </a:r>
          </a:p>
        </p:txBody>
      </p:sp>
      <p:sp>
        <p:nvSpPr>
          <p:cNvPr id="38" name="TextBox 38"/>
          <p:cNvSpPr txBox="1"/>
          <p:nvPr/>
        </p:nvSpPr>
        <p:spPr>
          <a:xfrm>
            <a:off x="2342613" y="5830404"/>
            <a:ext cx="6223637"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OUR INNOVATIVE SOLUTIONS</a:t>
            </a:r>
          </a:p>
        </p:txBody>
      </p:sp>
      <p:sp>
        <p:nvSpPr>
          <p:cNvPr id="39" name="TextBox 39"/>
          <p:cNvSpPr txBox="1"/>
          <p:nvPr/>
        </p:nvSpPr>
        <p:spPr>
          <a:xfrm>
            <a:off x="11036730" y="6025984"/>
            <a:ext cx="6226715"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ACCOMPLISHMENTS DATE</a:t>
            </a:r>
          </a:p>
        </p:txBody>
      </p:sp>
      <p:sp>
        <p:nvSpPr>
          <p:cNvPr id="40" name="TextBox 40"/>
          <p:cNvSpPr txBox="1"/>
          <p:nvPr/>
        </p:nvSpPr>
        <p:spPr>
          <a:xfrm>
            <a:off x="2342613" y="7207984"/>
            <a:ext cx="6223637"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SIZE OF MARKET</a:t>
            </a:r>
          </a:p>
        </p:txBody>
      </p:sp>
      <p:sp>
        <p:nvSpPr>
          <p:cNvPr id="41" name="TextBox 41"/>
          <p:cNvSpPr txBox="1"/>
          <p:nvPr/>
        </p:nvSpPr>
        <p:spPr>
          <a:xfrm>
            <a:off x="11032585" y="7207984"/>
            <a:ext cx="6226715"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USE OF FUNDS</a:t>
            </a:r>
          </a:p>
        </p:txBody>
      </p:sp>
      <p:sp>
        <p:nvSpPr>
          <p:cNvPr id="42" name="TextBox 42"/>
          <p:cNvSpPr txBox="1"/>
          <p:nvPr/>
        </p:nvSpPr>
        <p:spPr>
          <a:xfrm>
            <a:off x="2342613" y="8585564"/>
            <a:ext cx="6223637" cy="9531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KEY COMPETITIVE ADVANTAGES</a:t>
            </a:r>
          </a:p>
        </p:txBody>
      </p:sp>
      <p:sp>
        <p:nvSpPr>
          <p:cNvPr id="43" name="TextBox 43"/>
          <p:cNvSpPr txBox="1"/>
          <p:nvPr/>
        </p:nvSpPr>
        <p:spPr>
          <a:xfrm>
            <a:off x="11032585" y="8585564"/>
            <a:ext cx="6226715" cy="495935"/>
          </a:xfrm>
          <a:prstGeom prst="rect">
            <a:avLst/>
          </a:prstGeom>
        </p:spPr>
        <p:txBody>
          <a:bodyPr lIns="0" tIns="0" rIns="0" bIns="0" rtlCol="0" anchor="t">
            <a:spAutoFit/>
          </a:bodyPr>
          <a:lstStyle/>
          <a:p>
            <a:pPr algn="l">
              <a:lnSpc>
                <a:spcPts val="3640"/>
              </a:lnSpc>
              <a:spcBef>
                <a:spcPct val="0"/>
              </a:spcBef>
            </a:pPr>
            <a:r>
              <a:rPr lang="en-US" sz="2600" b="1" spc="260">
                <a:solidFill>
                  <a:srgbClr val="000000"/>
                </a:solidFill>
                <a:latin typeface="Gabriel Sans Bold"/>
                <a:ea typeface="Gabriel Sans Bold"/>
                <a:cs typeface="Gabriel Sans Bold"/>
                <a:sym typeface="Gabriel Sans Bold"/>
              </a:rPr>
              <a:t>MEET THE TEAM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3713059" cy="3606309"/>
          </a:xfrm>
          <a:custGeom>
            <a:avLst/>
            <a:gdLst/>
            <a:ahLst/>
            <a:cxnLst/>
            <a:rect l="l" t="t" r="r" b="b"/>
            <a:pathLst>
              <a:path w="3713059" h="3606309">
                <a:moveTo>
                  <a:pt x="3713059" y="3606309"/>
                </a:moveTo>
                <a:lnTo>
                  <a:pt x="0" y="3606309"/>
                </a:lnTo>
                <a:lnTo>
                  <a:pt x="0" y="0"/>
                </a:lnTo>
                <a:lnTo>
                  <a:pt x="3713059" y="0"/>
                </a:lnTo>
                <a:lnTo>
                  <a:pt x="3713059" y="360630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50886" y="2851293"/>
            <a:ext cx="5085336" cy="4761723"/>
          </a:xfrm>
          <a:custGeom>
            <a:avLst/>
            <a:gdLst/>
            <a:ahLst/>
            <a:cxnLst/>
            <a:rect l="l" t="t" r="r" b="b"/>
            <a:pathLst>
              <a:path w="5085336" h="4761723">
                <a:moveTo>
                  <a:pt x="0" y="0"/>
                </a:moveTo>
                <a:lnTo>
                  <a:pt x="5085335" y="0"/>
                </a:lnTo>
                <a:lnTo>
                  <a:pt x="5085335" y="4761723"/>
                </a:lnTo>
                <a:lnTo>
                  <a:pt x="0" y="47617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7261849" y="1180872"/>
            <a:ext cx="616420" cy="616420"/>
          </a:xfrm>
          <a:custGeom>
            <a:avLst/>
            <a:gdLst/>
            <a:ahLst/>
            <a:cxnLst/>
            <a:rect l="l" t="t" r="r" b="b"/>
            <a:pathLst>
              <a:path w="616420" h="616420">
                <a:moveTo>
                  <a:pt x="0" y="0"/>
                </a:moveTo>
                <a:lnTo>
                  <a:pt x="616420" y="0"/>
                </a:lnTo>
                <a:lnTo>
                  <a:pt x="616420" y="616420"/>
                </a:lnTo>
                <a:lnTo>
                  <a:pt x="0" y="6164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7261849" y="3207374"/>
            <a:ext cx="616420" cy="616420"/>
          </a:xfrm>
          <a:custGeom>
            <a:avLst/>
            <a:gdLst/>
            <a:ahLst/>
            <a:cxnLst/>
            <a:rect l="l" t="t" r="r" b="b"/>
            <a:pathLst>
              <a:path w="616420" h="616420">
                <a:moveTo>
                  <a:pt x="0" y="0"/>
                </a:moveTo>
                <a:lnTo>
                  <a:pt x="616420" y="0"/>
                </a:lnTo>
                <a:lnTo>
                  <a:pt x="616420" y="616420"/>
                </a:lnTo>
                <a:lnTo>
                  <a:pt x="0" y="6164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7261849" y="5934264"/>
            <a:ext cx="616420" cy="616420"/>
          </a:xfrm>
          <a:custGeom>
            <a:avLst/>
            <a:gdLst/>
            <a:ahLst/>
            <a:cxnLst/>
            <a:rect l="l" t="t" r="r" b="b"/>
            <a:pathLst>
              <a:path w="616420" h="616420">
                <a:moveTo>
                  <a:pt x="0" y="0"/>
                </a:moveTo>
                <a:lnTo>
                  <a:pt x="616420" y="0"/>
                </a:lnTo>
                <a:lnTo>
                  <a:pt x="616420" y="616420"/>
                </a:lnTo>
                <a:lnTo>
                  <a:pt x="0" y="6164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1550886" y="7962900"/>
            <a:ext cx="15708414" cy="1295400"/>
          </a:xfrm>
          <a:prstGeom prst="rect">
            <a:avLst/>
          </a:prstGeom>
        </p:spPr>
        <p:txBody>
          <a:bodyPr lIns="0" tIns="0" rIns="0" bIns="0" rtlCol="0" anchor="t">
            <a:spAutoFit/>
          </a:bodyPr>
          <a:lstStyle/>
          <a:p>
            <a:pPr algn="just">
              <a:lnSpc>
                <a:spcPts val="9900"/>
              </a:lnSpc>
            </a:pPr>
            <a:r>
              <a:rPr lang="en-US" sz="9000">
                <a:solidFill>
                  <a:srgbClr val="000000"/>
                </a:solidFill>
                <a:latin typeface="Archive"/>
                <a:ea typeface="Archive"/>
                <a:cs typeface="Archive"/>
                <a:sym typeface="Archive"/>
              </a:rPr>
              <a:t>PROBLEM STATEMENT</a:t>
            </a:r>
          </a:p>
        </p:txBody>
      </p:sp>
      <p:sp>
        <p:nvSpPr>
          <p:cNvPr id="8" name="TextBox 8"/>
          <p:cNvSpPr txBox="1"/>
          <p:nvPr/>
        </p:nvSpPr>
        <p:spPr>
          <a:xfrm>
            <a:off x="8205740" y="1223017"/>
            <a:ext cx="9053560" cy="436880"/>
          </a:xfrm>
          <a:prstGeom prst="rect">
            <a:avLst/>
          </a:prstGeom>
        </p:spPr>
        <p:txBody>
          <a:bodyPr lIns="0" tIns="0" rIns="0" bIns="0" rtlCol="0" anchor="t">
            <a:spAutoFit/>
          </a:bodyPr>
          <a:lstStyle/>
          <a:p>
            <a:pPr algn="l">
              <a:lnSpc>
                <a:spcPts val="3220"/>
              </a:lnSpc>
              <a:spcBef>
                <a:spcPct val="0"/>
              </a:spcBef>
            </a:pPr>
            <a:r>
              <a:rPr lang="en-US" sz="2300" b="1" spc="230">
                <a:solidFill>
                  <a:srgbClr val="000000"/>
                </a:solidFill>
                <a:latin typeface="Gabriel Sans Bold"/>
                <a:ea typeface="Gabriel Sans Bold"/>
                <a:cs typeface="Gabriel Sans Bold"/>
                <a:sym typeface="Gabriel Sans Bold"/>
              </a:rPr>
              <a:t>Lack of Brand Differentiation</a:t>
            </a:r>
          </a:p>
        </p:txBody>
      </p:sp>
      <p:sp>
        <p:nvSpPr>
          <p:cNvPr id="9" name="TextBox 9"/>
          <p:cNvSpPr txBox="1"/>
          <p:nvPr/>
        </p:nvSpPr>
        <p:spPr>
          <a:xfrm>
            <a:off x="8205740" y="3249520"/>
            <a:ext cx="9053560" cy="436880"/>
          </a:xfrm>
          <a:prstGeom prst="rect">
            <a:avLst/>
          </a:prstGeom>
        </p:spPr>
        <p:txBody>
          <a:bodyPr lIns="0" tIns="0" rIns="0" bIns="0" rtlCol="0" anchor="t">
            <a:spAutoFit/>
          </a:bodyPr>
          <a:lstStyle/>
          <a:p>
            <a:pPr algn="l">
              <a:lnSpc>
                <a:spcPts val="3220"/>
              </a:lnSpc>
              <a:spcBef>
                <a:spcPct val="0"/>
              </a:spcBef>
            </a:pPr>
            <a:r>
              <a:rPr lang="en-US" sz="2300" b="1" spc="230">
                <a:solidFill>
                  <a:srgbClr val="000000"/>
                </a:solidFill>
                <a:latin typeface="Gabriel Sans Bold"/>
                <a:ea typeface="Gabriel Sans Bold"/>
                <a:cs typeface="Gabriel Sans Bold"/>
                <a:sym typeface="Gabriel Sans Bold"/>
              </a:rPr>
              <a:t>Inconsistent Brand Messaging</a:t>
            </a:r>
          </a:p>
        </p:txBody>
      </p:sp>
      <p:sp>
        <p:nvSpPr>
          <p:cNvPr id="10" name="TextBox 10"/>
          <p:cNvSpPr txBox="1"/>
          <p:nvPr/>
        </p:nvSpPr>
        <p:spPr>
          <a:xfrm>
            <a:off x="8205740" y="1683409"/>
            <a:ext cx="9053560" cy="1092199"/>
          </a:xfrm>
          <a:prstGeom prst="rect">
            <a:avLst/>
          </a:prstGeom>
        </p:spPr>
        <p:txBody>
          <a:bodyPr lIns="0" tIns="0" rIns="0" bIns="0" rtlCol="0" anchor="t">
            <a:spAutoFit/>
          </a:bodyPr>
          <a:lstStyle/>
          <a:p>
            <a:pPr algn="just">
              <a:lnSpc>
                <a:spcPts val="2800"/>
              </a:lnSpc>
              <a:spcBef>
                <a:spcPct val="0"/>
              </a:spcBef>
            </a:pPr>
            <a:r>
              <a:rPr lang="en-US" sz="2000" spc="200">
                <a:solidFill>
                  <a:srgbClr val="000000"/>
                </a:solidFill>
                <a:latin typeface="Gabriel Sans Condensed"/>
                <a:ea typeface="Gabriel Sans Condensed"/>
                <a:cs typeface="Gabriel Sans Condensed"/>
                <a:sym typeface="Gabriel Sans Condensed"/>
              </a:rPr>
              <a:t>Startups often find it hard to make their brand unique in a crowded market. Without a clear way to stand out, they struggle to catch the eye of potential customers and lose out to bigger competitors.</a:t>
            </a:r>
          </a:p>
        </p:txBody>
      </p:sp>
      <p:sp>
        <p:nvSpPr>
          <p:cNvPr id="11" name="TextBox 11"/>
          <p:cNvSpPr txBox="1"/>
          <p:nvPr/>
        </p:nvSpPr>
        <p:spPr>
          <a:xfrm>
            <a:off x="8205740" y="3705449"/>
            <a:ext cx="9053560" cy="1797049"/>
          </a:xfrm>
          <a:prstGeom prst="rect">
            <a:avLst/>
          </a:prstGeom>
        </p:spPr>
        <p:txBody>
          <a:bodyPr lIns="0" tIns="0" rIns="0" bIns="0" rtlCol="0" anchor="t">
            <a:spAutoFit/>
          </a:bodyPr>
          <a:lstStyle/>
          <a:p>
            <a:pPr algn="just">
              <a:lnSpc>
                <a:spcPts val="2800"/>
              </a:lnSpc>
              <a:spcBef>
                <a:spcPct val="0"/>
              </a:spcBef>
            </a:pPr>
            <a:r>
              <a:rPr lang="en-US" sz="2000" spc="200">
                <a:solidFill>
                  <a:srgbClr val="000000"/>
                </a:solidFill>
                <a:latin typeface="Gabriel Sans Condensed"/>
                <a:ea typeface="Gabriel Sans Condensed"/>
                <a:cs typeface="Gabriel Sans Condensed"/>
                <a:sym typeface="Gabriel Sans Condensed"/>
              </a:rPr>
              <a:t>inconsistency in brand messaging across various marketing channels confuses potential customers and dilutes brand perception. Startups often face challenges in maintaining a cohesive message that effectively communicates their value proposition and resonates with their target audience.</a:t>
            </a:r>
          </a:p>
        </p:txBody>
      </p:sp>
      <p:sp>
        <p:nvSpPr>
          <p:cNvPr id="12" name="TextBox 12"/>
          <p:cNvSpPr txBox="1"/>
          <p:nvPr/>
        </p:nvSpPr>
        <p:spPr>
          <a:xfrm>
            <a:off x="8205740" y="5976409"/>
            <a:ext cx="9053560" cy="436880"/>
          </a:xfrm>
          <a:prstGeom prst="rect">
            <a:avLst/>
          </a:prstGeom>
        </p:spPr>
        <p:txBody>
          <a:bodyPr lIns="0" tIns="0" rIns="0" bIns="0" rtlCol="0" anchor="t">
            <a:spAutoFit/>
          </a:bodyPr>
          <a:lstStyle/>
          <a:p>
            <a:pPr algn="l">
              <a:lnSpc>
                <a:spcPts val="3220"/>
              </a:lnSpc>
              <a:spcBef>
                <a:spcPct val="0"/>
              </a:spcBef>
            </a:pPr>
            <a:r>
              <a:rPr lang="en-US" sz="2300" b="1" spc="230">
                <a:solidFill>
                  <a:srgbClr val="000000"/>
                </a:solidFill>
                <a:latin typeface="Gabriel Sans Bold"/>
                <a:ea typeface="Gabriel Sans Bold"/>
                <a:cs typeface="Gabriel Sans Bold"/>
                <a:sym typeface="Gabriel Sans Bold"/>
              </a:rPr>
              <a:t>Keeping Up with Trends</a:t>
            </a:r>
          </a:p>
        </p:txBody>
      </p:sp>
      <p:sp>
        <p:nvSpPr>
          <p:cNvPr id="13" name="TextBox 13"/>
          <p:cNvSpPr txBox="1"/>
          <p:nvPr/>
        </p:nvSpPr>
        <p:spPr>
          <a:xfrm>
            <a:off x="8205740" y="6432339"/>
            <a:ext cx="9053560" cy="1092199"/>
          </a:xfrm>
          <a:prstGeom prst="rect">
            <a:avLst/>
          </a:prstGeom>
        </p:spPr>
        <p:txBody>
          <a:bodyPr lIns="0" tIns="0" rIns="0" bIns="0" rtlCol="0" anchor="t">
            <a:spAutoFit/>
          </a:bodyPr>
          <a:lstStyle/>
          <a:p>
            <a:pPr algn="just">
              <a:lnSpc>
                <a:spcPts val="2800"/>
              </a:lnSpc>
              <a:spcBef>
                <a:spcPct val="0"/>
              </a:spcBef>
            </a:pPr>
            <a:r>
              <a:rPr lang="en-US" sz="2000" spc="200">
                <a:solidFill>
                  <a:srgbClr val="000000"/>
                </a:solidFill>
                <a:latin typeface="Gabriel Sans Condensed"/>
                <a:ea typeface="Gabriel Sans Condensed"/>
                <a:cs typeface="Gabriel Sans Condensed"/>
                <a:sym typeface="Gabriel Sans Condensed"/>
              </a:rPr>
              <a:t>The market changes fast, and startups need to keep up. But without a big team or resources, it's tough to stay on top of the latest trends and adapt their marketing strategies accordingly.</a:t>
            </a:r>
          </a:p>
        </p:txBody>
      </p:sp>
      <p:sp>
        <p:nvSpPr>
          <p:cNvPr id="14" name="AutoShape 14"/>
          <p:cNvSpPr/>
          <p:nvPr/>
        </p:nvSpPr>
        <p:spPr>
          <a:xfrm>
            <a:off x="4093554" y="9277350"/>
            <a:ext cx="14527936" cy="0"/>
          </a:xfrm>
          <a:prstGeom prst="line">
            <a:avLst/>
          </a:prstGeom>
          <a:ln w="38100" cap="flat">
            <a:solidFill>
              <a:srgbClr val="C00303"/>
            </a:solidFill>
            <a:prstDash val="solid"/>
            <a:headEnd type="oval" w="lg" len="lg"/>
            <a:tailEnd type="none" w="sm" len="sm"/>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6182340" y="3787123"/>
            <a:ext cx="2275605" cy="0"/>
          </a:xfrm>
          <a:prstGeom prst="line">
            <a:avLst/>
          </a:prstGeom>
          <a:ln w="38100" cap="flat">
            <a:solidFill>
              <a:srgbClr val="C00303"/>
            </a:solidFill>
            <a:prstDash val="solid"/>
            <a:headEnd type="oval" w="lg" len="lg"/>
            <a:tailEnd type="none" w="sm" len="sm"/>
          </a:ln>
        </p:spPr>
        <p:txBody>
          <a:bodyPr/>
          <a:lstStyle/>
          <a:p>
            <a:endParaRPr lang="en-US"/>
          </a:p>
        </p:txBody>
      </p:sp>
      <p:sp>
        <p:nvSpPr>
          <p:cNvPr id="3" name="AutoShape 3"/>
          <p:cNvSpPr/>
          <p:nvPr/>
        </p:nvSpPr>
        <p:spPr>
          <a:xfrm flipV="1">
            <a:off x="-169945" y="3787123"/>
            <a:ext cx="2275605" cy="0"/>
          </a:xfrm>
          <a:prstGeom prst="line">
            <a:avLst/>
          </a:prstGeom>
          <a:ln w="38100" cap="flat">
            <a:solidFill>
              <a:srgbClr val="C00303"/>
            </a:solidFill>
            <a:prstDash val="solid"/>
            <a:headEnd type="none" w="sm" len="sm"/>
            <a:tailEnd type="oval" w="lg" len="lg"/>
          </a:ln>
        </p:spPr>
        <p:txBody>
          <a:bodyPr/>
          <a:lstStyle/>
          <a:p>
            <a:endParaRPr lang="en-US"/>
          </a:p>
        </p:txBody>
      </p:sp>
      <p:sp>
        <p:nvSpPr>
          <p:cNvPr id="4" name="AutoShape 4"/>
          <p:cNvSpPr/>
          <p:nvPr/>
        </p:nvSpPr>
        <p:spPr>
          <a:xfrm>
            <a:off x="4403998" y="3806173"/>
            <a:ext cx="3590725" cy="0"/>
          </a:xfrm>
          <a:prstGeom prst="line">
            <a:avLst/>
          </a:prstGeom>
          <a:ln w="38100" cap="flat">
            <a:solidFill>
              <a:srgbClr val="C00303"/>
            </a:solidFill>
            <a:prstDash val="solid"/>
            <a:headEnd type="oval" w="lg" len="lg"/>
            <a:tailEnd type="oval" w="lg" len="lg"/>
          </a:ln>
        </p:spPr>
        <p:txBody>
          <a:bodyPr/>
          <a:lstStyle/>
          <a:p>
            <a:endParaRPr lang="en-US"/>
          </a:p>
        </p:txBody>
      </p:sp>
      <p:sp>
        <p:nvSpPr>
          <p:cNvPr id="5" name="AutoShape 5"/>
          <p:cNvSpPr/>
          <p:nvPr/>
        </p:nvSpPr>
        <p:spPr>
          <a:xfrm>
            <a:off x="10344950" y="3806173"/>
            <a:ext cx="3590725" cy="0"/>
          </a:xfrm>
          <a:prstGeom prst="line">
            <a:avLst/>
          </a:prstGeom>
          <a:ln w="38100" cap="flat">
            <a:solidFill>
              <a:srgbClr val="C00303"/>
            </a:solidFill>
            <a:prstDash val="solid"/>
            <a:headEnd type="oval" w="lg" len="lg"/>
            <a:tailEnd type="oval" w="lg" len="lg"/>
          </a:ln>
        </p:spPr>
        <p:txBody>
          <a:bodyPr/>
          <a:lstStyle/>
          <a:p>
            <a:endParaRPr lang="en-US"/>
          </a:p>
        </p:txBody>
      </p:sp>
      <p:grpSp>
        <p:nvGrpSpPr>
          <p:cNvPr id="6" name="Group 6"/>
          <p:cNvGrpSpPr/>
          <p:nvPr/>
        </p:nvGrpSpPr>
        <p:grpSpPr>
          <a:xfrm>
            <a:off x="2290895" y="2847158"/>
            <a:ext cx="1841830" cy="184183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00303"/>
              </a:solidFill>
              <a:prstDash val="solid"/>
              <a:miter/>
            </a:ln>
          </p:spPr>
          <p:txBody>
            <a:bodyPr/>
            <a:lstStyle/>
            <a:p>
              <a:endParaRPr lang="en-US"/>
            </a:p>
          </p:txBody>
        </p:sp>
        <p:sp>
          <p:nvSpPr>
            <p:cNvPr id="8" name="TextBox 8"/>
            <p:cNvSpPr txBox="1"/>
            <p:nvPr/>
          </p:nvSpPr>
          <p:spPr>
            <a:xfrm>
              <a:off x="76200" y="-9525"/>
              <a:ext cx="660400" cy="746125"/>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8223085" y="2847158"/>
            <a:ext cx="1841830" cy="184183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a:ln cap="sq">
              <a:noFill/>
              <a:prstDash val="solid"/>
              <a:miter/>
            </a:ln>
          </p:spPr>
          <p:txBody>
            <a:bodyPr/>
            <a:lstStyle/>
            <a:p>
              <a:endParaRPr lang="en-US"/>
            </a:p>
          </p:txBody>
        </p:sp>
        <p:sp>
          <p:nvSpPr>
            <p:cNvPr id="11" name="TextBox 11"/>
            <p:cNvSpPr txBox="1"/>
            <p:nvPr/>
          </p:nvSpPr>
          <p:spPr>
            <a:xfrm>
              <a:off x="76200" y="-9525"/>
              <a:ext cx="660400" cy="746125"/>
            </a:xfrm>
            <a:prstGeom prst="rect">
              <a:avLst/>
            </a:prstGeom>
          </p:spPr>
          <p:txBody>
            <a:bodyPr lIns="50800" tIns="50800" rIns="50800" bIns="50800" rtlCol="0" anchor="ctr"/>
            <a:lstStyle/>
            <a:p>
              <a:pPr algn="ctr">
                <a:lnSpc>
                  <a:spcPts val="2940"/>
                </a:lnSpc>
              </a:pPr>
              <a:endParaRPr/>
            </a:p>
          </p:txBody>
        </p:sp>
      </p:grpSp>
      <p:grpSp>
        <p:nvGrpSpPr>
          <p:cNvPr id="12" name="Group 12"/>
          <p:cNvGrpSpPr/>
          <p:nvPr/>
        </p:nvGrpSpPr>
        <p:grpSpPr>
          <a:xfrm>
            <a:off x="14155275" y="2847158"/>
            <a:ext cx="1841830" cy="184183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00303"/>
              </a:solidFill>
              <a:prstDash val="solid"/>
              <a:miter/>
            </a:ln>
          </p:spPr>
          <p:txBody>
            <a:bodyPr/>
            <a:lstStyle/>
            <a:p>
              <a:endParaRPr lang="en-US"/>
            </a:p>
          </p:txBody>
        </p:sp>
        <p:sp>
          <p:nvSpPr>
            <p:cNvPr id="14" name="TextBox 14"/>
            <p:cNvSpPr txBox="1"/>
            <p:nvPr/>
          </p:nvSpPr>
          <p:spPr>
            <a:xfrm>
              <a:off x="76200" y="-9525"/>
              <a:ext cx="660400" cy="746125"/>
            </a:xfrm>
            <a:prstGeom prst="rect">
              <a:avLst/>
            </a:prstGeom>
          </p:spPr>
          <p:txBody>
            <a:bodyPr lIns="50800" tIns="50800" rIns="50800" bIns="50800" rtlCol="0" anchor="ctr"/>
            <a:lstStyle/>
            <a:p>
              <a:pPr algn="ctr">
                <a:lnSpc>
                  <a:spcPts val="2940"/>
                </a:lnSpc>
              </a:pPr>
              <a:endParaRPr/>
            </a:p>
          </p:txBody>
        </p:sp>
      </p:grpSp>
      <p:sp>
        <p:nvSpPr>
          <p:cNvPr id="15" name="Freeform 15"/>
          <p:cNvSpPr/>
          <p:nvPr/>
        </p:nvSpPr>
        <p:spPr>
          <a:xfrm>
            <a:off x="2652792" y="3209054"/>
            <a:ext cx="1118036" cy="1118036"/>
          </a:xfrm>
          <a:custGeom>
            <a:avLst/>
            <a:gdLst/>
            <a:ahLst/>
            <a:cxnLst/>
            <a:rect l="l" t="t" r="r" b="b"/>
            <a:pathLst>
              <a:path w="1118036" h="1118036">
                <a:moveTo>
                  <a:pt x="0" y="0"/>
                </a:moveTo>
                <a:lnTo>
                  <a:pt x="1118036" y="0"/>
                </a:lnTo>
                <a:lnTo>
                  <a:pt x="1118036" y="1118037"/>
                </a:lnTo>
                <a:lnTo>
                  <a:pt x="0" y="1118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8562085" y="3255988"/>
            <a:ext cx="1163829" cy="1024170"/>
          </a:xfrm>
          <a:custGeom>
            <a:avLst/>
            <a:gdLst/>
            <a:ahLst/>
            <a:cxnLst/>
            <a:rect l="l" t="t" r="r" b="b"/>
            <a:pathLst>
              <a:path w="1163829" h="1024170">
                <a:moveTo>
                  <a:pt x="0" y="0"/>
                </a:moveTo>
                <a:lnTo>
                  <a:pt x="1163830" y="0"/>
                </a:lnTo>
                <a:lnTo>
                  <a:pt x="1163830" y="1024169"/>
                </a:lnTo>
                <a:lnTo>
                  <a:pt x="0" y="10241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14517172" y="3209054"/>
            <a:ext cx="1118036" cy="1118036"/>
          </a:xfrm>
          <a:custGeom>
            <a:avLst/>
            <a:gdLst/>
            <a:ahLst/>
            <a:cxnLst/>
            <a:rect l="l" t="t" r="r" b="b"/>
            <a:pathLst>
              <a:path w="1118036" h="1118036">
                <a:moveTo>
                  <a:pt x="0" y="0"/>
                </a:moveTo>
                <a:lnTo>
                  <a:pt x="1118036" y="0"/>
                </a:lnTo>
                <a:lnTo>
                  <a:pt x="1118036" y="1118037"/>
                </a:lnTo>
                <a:lnTo>
                  <a:pt x="0" y="11180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TextBox 18"/>
          <p:cNvSpPr txBox="1"/>
          <p:nvPr/>
        </p:nvSpPr>
        <p:spPr>
          <a:xfrm>
            <a:off x="1028700" y="1189808"/>
            <a:ext cx="16230600" cy="1295400"/>
          </a:xfrm>
          <a:prstGeom prst="rect">
            <a:avLst/>
          </a:prstGeom>
        </p:spPr>
        <p:txBody>
          <a:bodyPr lIns="0" tIns="0" rIns="0" bIns="0" rtlCol="0" anchor="t">
            <a:spAutoFit/>
          </a:bodyPr>
          <a:lstStyle/>
          <a:p>
            <a:pPr algn="ctr">
              <a:lnSpc>
                <a:spcPts val="9900"/>
              </a:lnSpc>
            </a:pPr>
            <a:r>
              <a:rPr lang="en-US" sz="9000">
                <a:solidFill>
                  <a:srgbClr val="000000"/>
                </a:solidFill>
                <a:latin typeface="Archive"/>
                <a:ea typeface="Archive"/>
                <a:cs typeface="Archive"/>
                <a:sym typeface="Archive"/>
              </a:rPr>
              <a:t>OUR INNOVATIVE SOLUTIONS</a:t>
            </a:r>
          </a:p>
        </p:txBody>
      </p:sp>
      <p:sp>
        <p:nvSpPr>
          <p:cNvPr id="19" name="TextBox 19"/>
          <p:cNvSpPr txBox="1"/>
          <p:nvPr/>
        </p:nvSpPr>
        <p:spPr>
          <a:xfrm>
            <a:off x="1028700" y="4942363"/>
            <a:ext cx="4444502" cy="9531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Find Unique Selling Point</a:t>
            </a:r>
          </a:p>
        </p:txBody>
      </p:sp>
      <p:sp>
        <p:nvSpPr>
          <p:cNvPr id="20" name="TextBox 20"/>
          <p:cNvSpPr txBox="1"/>
          <p:nvPr/>
        </p:nvSpPr>
        <p:spPr>
          <a:xfrm>
            <a:off x="6921749" y="4942363"/>
            <a:ext cx="4444502" cy="9531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Brand Messaging Guidelines</a:t>
            </a:r>
          </a:p>
        </p:txBody>
      </p:sp>
      <p:sp>
        <p:nvSpPr>
          <p:cNvPr id="21" name="TextBox 21"/>
          <p:cNvSpPr txBox="1"/>
          <p:nvPr/>
        </p:nvSpPr>
        <p:spPr>
          <a:xfrm>
            <a:off x="12814798" y="4942363"/>
            <a:ext cx="4444502" cy="9531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Agile Marketing Approach</a:t>
            </a:r>
          </a:p>
        </p:txBody>
      </p:sp>
      <p:sp>
        <p:nvSpPr>
          <p:cNvPr id="22" name="TextBox 22"/>
          <p:cNvSpPr txBox="1"/>
          <p:nvPr/>
        </p:nvSpPr>
        <p:spPr>
          <a:xfrm>
            <a:off x="1028700" y="6104256"/>
            <a:ext cx="4444502" cy="2763519"/>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Help startups figure out what makes them special and build their brand around it. This involves learning about their competitors and target audience, then creating a clear message that sets them apart.</a:t>
            </a:r>
          </a:p>
        </p:txBody>
      </p:sp>
      <p:sp>
        <p:nvSpPr>
          <p:cNvPr id="23" name="TextBox 23"/>
          <p:cNvSpPr txBox="1"/>
          <p:nvPr/>
        </p:nvSpPr>
        <p:spPr>
          <a:xfrm>
            <a:off x="6921749" y="6104256"/>
            <a:ext cx="4444502" cy="2763519"/>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Make sure all of the startup's marketing materials send the same message. This means having clear guidelines for how they talk about themselves and making sure everyone sticks to them.</a:t>
            </a:r>
          </a:p>
        </p:txBody>
      </p:sp>
      <p:sp>
        <p:nvSpPr>
          <p:cNvPr id="24" name="TextBox 24"/>
          <p:cNvSpPr txBox="1"/>
          <p:nvPr/>
        </p:nvSpPr>
        <p:spPr>
          <a:xfrm>
            <a:off x="12853939" y="6104256"/>
            <a:ext cx="4444502" cy="3154044"/>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Help startups adapt quickly to changes in the market. This means keeping an eye on what's happening, analyzing data, and being willing to try new things to keep their marketing strategy fresh and effective.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9000" y="2849446"/>
            <a:ext cx="3962347" cy="6408854"/>
            <a:chOff x="0" y="0"/>
            <a:chExt cx="1043581" cy="1687929"/>
          </a:xfrm>
        </p:grpSpPr>
        <p:sp>
          <p:nvSpPr>
            <p:cNvPr id="3" name="Freeform 3"/>
            <p:cNvSpPr/>
            <p:nvPr/>
          </p:nvSpPr>
          <p:spPr>
            <a:xfrm>
              <a:off x="0" y="0"/>
              <a:ext cx="1043581" cy="1687929"/>
            </a:xfrm>
            <a:custGeom>
              <a:avLst/>
              <a:gdLst/>
              <a:ahLst/>
              <a:cxnLst/>
              <a:rect l="l" t="t" r="r" b="b"/>
              <a:pathLst>
                <a:path w="1043581" h="1687929">
                  <a:moveTo>
                    <a:pt x="0" y="0"/>
                  </a:moveTo>
                  <a:lnTo>
                    <a:pt x="1043581" y="0"/>
                  </a:lnTo>
                  <a:lnTo>
                    <a:pt x="1043581" y="1687929"/>
                  </a:lnTo>
                  <a:lnTo>
                    <a:pt x="0" y="1687929"/>
                  </a:lnTo>
                  <a:close/>
                </a:path>
              </a:pathLst>
            </a:custGeom>
            <a:solidFill>
              <a:srgbClr val="000000">
                <a:alpha val="0"/>
              </a:srgbClr>
            </a:solidFill>
            <a:ln w="38100" cap="sq">
              <a:solidFill>
                <a:srgbClr val="C00303"/>
              </a:solidFill>
              <a:prstDash val="solid"/>
              <a:miter/>
            </a:ln>
          </p:spPr>
          <p:txBody>
            <a:bodyPr/>
            <a:lstStyle/>
            <a:p>
              <a:endParaRPr lang="en-US"/>
            </a:p>
          </p:txBody>
        </p:sp>
        <p:sp>
          <p:nvSpPr>
            <p:cNvPr id="4" name="TextBox 4"/>
            <p:cNvSpPr txBox="1"/>
            <p:nvPr/>
          </p:nvSpPr>
          <p:spPr>
            <a:xfrm>
              <a:off x="0" y="-104775"/>
              <a:ext cx="1043581" cy="1792704"/>
            </a:xfrm>
            <a:prstGeom prst="rect">
              <a:avLst/>
            </a:prstGeom>
          </p:spPr>
          <p:txBody>
            <a:bodyPr lIns="50800" tIns="50800" rIns="50800" bIns="50800" rtlCol="0" anchor="ctr"/>
            <a:lstStyle/>
            <a:p>
              <a:pPr algn="ctr">
                <a:lnSpc>
                  <a:spcPts val="3640"/>
                </a:lnSpc>
              </a:pPr>
              <a:endParaRPr/>
            </a:p>
          </p:txBody>
        </p:sp>
      </p:grpSp>
      <p:grpSp>
        <p:nvGrpSpPr>
          <p:cNvPr id="5" name="Group 5"/>
          <p:cNvGrpSpPr/>
          <p:nvPr/>
        </p:nvGrpSpPr>
        <p:grpSpPr>
          <a:xfrm>
            <a:off x="5094884" y="2849446"/>
            <a:ext cx="3962347" cy="6408854"/>
            <a:chOff x="0" y="0"/>
            <a:chExt cx="1043581" cy="1687929"/>
          </a:xfrm>
        </p:grpSpPr>
        <p:sp>
          <p:nvSpPr>
            <p:cNvPr id="6" name="Freeform 6"/>
            <p:cNvSpPr/>
            <p:nvPr/>
          </p:nvSpPr>
          <p:spPr>
            <a:xfrm>
              <a:off x="0" y="0"/>
              <a:ext cx="1043581" cy="1687929"/>
            </a:xfrm>
            <a:custGeom>
              <a:avLst/>
              <a:gdLst/>
              <a:ahLst/>
              <a:cxnLst/>
              <a:rect l="l" t="t" r="r" b="b"/>
              <a:pathLst>
                <a:path w="1043581" h="1687929">
                  <a:moveTo>
                    <a:pt x="0" y="0"/>
                  </a:moveTo>
                  <a:lnTo>
                    <a:pt x="1043581" y="0"/>
                  </a:lnTo>
                  <a:lnTo>
                    <a:pt x="1043581" y="1687929"/>
                  </a:lnTo>
                  <a:lnTo>
                    <a:pt x="0" y="1687929"/>
                  </a:lnTo>
                  <a:close/>
                </a:path>
              </a:pathLst>
            </a:custGeom>
            <a:solidFill>
              <a:srgbClr val="FAFAFA"/>
            </a:solidFill>
            <a:ln w="38100" cap="sq">
              <a:solidFill>
                <a:srgbClr val="C00303"/>
              </a:solidFill>
              <a:prstDash val="solid"/>
              <a:miter/>
            </a:ln>
          </p:spPr>
          <p:txBody>
            <a:bodyPr/>
            <a:lstStyle/>
            <a:p>
              <a:endParaRPr lang="en-US"/>
            </a:p>
          </p:txBody>
        </p:sp>
        <p:sp>
          <p:nvSpPr>
            <p:cNvPr id="7" name="TextBox 7"/>
            <p:cNvSpPr txBox="1"/>
            <p:nvPr/>
          </p:nvSpPr>
          <p:spPr>
            <a:xfrm>
              <a:off x="0" y="-104775"/>
              <a:ext cx="1043581" cy="1792704"/>
            </a:xfrm>
            <a:prstGeom prst="rect">
              <a:avLst/>
            </a:prstGeom>
          </p:spPr>
          <p:txBody>
            <a:bodyPr lIns="50800" tIns="50800" rIns="50800" bIns="50800" rtlCol="0" anchor="ctr"/>
            <a:lstStyle/>
            <a:p>
              <a:pPr algn="ctr">
                <a:lnSpc>
                  <a:spcPts val="3640"/>
                </a:lnSpc>
              </a:pPr>
              <a:endParaRPr/>
            </a:p>
          </p:txBody>
        </p:sp>
      </p:grpSp>
      <p:grpSp>
        <p:nvGrpSpPr>
          <p:cNvPr id="8" name="Group 8"/>
          <p:cNvGrpSpPr/>
          <p:nvPr/>
        </p:nvGrpSpPr>
        <p:grpSpPr>
          <a:xfrm>
            <a:off x="2019259" y="7108632"/>
            <a:ext cx="1841830" cy="184183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a:ln cap="sq">
              <a:noFill/>
              <a:prstDash val="solid"/>
              <a:miter/>
            </a:ln>
          </p:spPr>
          <p:txBody>
            <a:bodyPr/>
            <a:lstStyle/>
            <a:p>
              <a:endParaRPr lang="en-US"/>
            </a:p>
          </p:txBody>
        </p:sp>
        <p:sp>
          <p:nvSpPr>
            <p:cNvPr id="10" name="TextBox 10"/>
            <p:cNvSpPr txBox="1"/>
            <p:nvPr/>
          </p:nvSpPr>
          <p:spPr>
            <a:xfrm>
              <a:off x="76200" y="-28575"/>
              <a:ext cx="660400" cy="765175"/>
            </a:xfrm>
            <a:prstGeom prst="rect">
              <a:avLst/>
            </a:prstGeom>
          </p:spPr>
          <p:txBody>
            <a:bodyPr lIns="50800" tIns="50800" rIns="50800" bIns="50800" rtlCol="0" anchor="ctr"/>
            <a:lstStyle/>
            <a:p>
              <a:pPr algn="ctr">
                <a:lnSpc>
                  <a:spcPts val="7979"/>
                </a:lnSpc>
              </a:pPr>
              <a:r>
                <a:rPr lang="en-US" sz="5699" spc="569">
                  <a:solidFill>
                    <a:srgbClr val="F3EEEA"/>
                  </a:solidFill>
                  <a:latin typeface="Archive"/>
                  <a:ea typeface="Archive"/>
                  <a:cs typeface="Archive"/>
                  <a:sym typeface="Archive"/>
                </a:rPr>
                <a:t>01</a:t>
              </a:r>
            </a:p>
          </p:txBody>
        </p:sp>
      </p:grpSp>
      <p:grpSp>
        <p:nvGrpSpPr>
          <p:cNvPr id="11" name="Group 11"/>
          <p:cNvGrpSpPr/>
          <p:nvPr/>
        </p:nvGrpSpPr>
        <p:grpSpPr>
          <a:xfrm>
            <a:off x="6155143" y="7108632"/>
            <a:ext cx="1841830" cy="184183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a:ln cap="sq">
              <a:noFill/>
              <a:prstDash val="solid"/>
              <a:miter/>
            </a:ln>
          </p:spPr>
          <p:txBody>
            <a:bodyPr/>
            <a:lstStyle/>
            <a:p>
              <a:endParaRPr lang="en-US"/>
            </a:p>
          </p:txBody>
        </p:sp>
        <p:sp>
          <p:nvSpPr>
            <p:cNvPr id="13" name="TextBox 13"/>
            <p:cNvSpPr txBox="1"/>
            <p:nvPr/>
          </p:nvSpPr>
          <p:spPr>
            <a:xfrm>
              <a:off x="76200" y="-28575"/>
              <a:ext cx="660400" cy="765175"/>
            </a:xfrm>
            <a:prstGeom prst="rect">
              <a:avLst/>
            </a:prstGeom>
          </p:spPr>
          <p:txBody>
            <a:bodyPr lIns="50800" tIns="50800" rIns="50800" bIns="50800" rtlCol="0" anchor="ctr"/>
            <a:lstStyle/>
            <a:p>
              <a:pPr algn="ctr">
                <a:lnSpc>
                  <a:spcPts val="7979"/>
                </a:lnSpc>
              </a:pPr>
              <a:r>
                <a:rPr lang="en-US" sz="5699" spc="569">
                  <a:solidFill>
                    <a:srgbClr val="F3EEEA"/>
                  </a:solidFill>
                  <a:latin typeface="Archive"/>
                  <a:ea typeface="Archive"/>
                  <a:cs typeface="Archive"/>
                  <a:sym typeface="Archive"/>
                </a:rPr>
                <a:t>02</a:t>
              </a:r>
            </a:p>
          </p:txBody>
        </p:sp>
      </p:grpSp>
      <p:sp>
        <p:nvSpPr>
          <p:cNvPr id="14" name="TextBox 14"/>
          <p:cNvSpPr txBox="1"/>
          <p:nvPr/>
        </p:nvSpPr>
        <p:spPr>
          <a:xfrm>
            <a:off x="1208620" y="3139592"/>
            <a:ext cx="3463106" cy="4959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Brand Building</a:t>
            </a:r>
          </a:p>
        </p:txBody>
      </p:sp>
      <p:sp>
        <p:nvSpPr>
          <p:cNvPr id="15" name="TextBox 15"/>
          <p:cNvSpPr txBox="1"/>
          <p:nvPr/>
        </p:nvSpPr>
        <p:spPr>
          <a:xfrm>
            <a:off x="5344505" y="3139592"/>
            <a:ext cx="3463106" cy="4959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Digital Marketing</a:t>
            </a:r>
          </a:p>
        </p:txBody>
      </p:sp>
      <p:sp>
        <p:nvSpPr>
          <p:cNvPr id="16" name="TextBox 16"/>
          <p:cNvSpPr txBox="1"/>
          <p:nvPr/>
        </p:nvSpPr>
        <p:spPr>
          <a:xfrm>
            <a:off x="1208620" y="4249040"/>
            <a:ext cx="3463106" cy="2372994"/>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We create a strong brand identity, including logos and design elements, to help startups stand out and gain trust.</a:t>
            </a:r>
          </a:p>
        </p:txBody>
      </p:sp>
      <p:sp>
        <p:nvSpPr>
          <p:cNvPr id="17" name="TextBox 17"/>
          <p:cNvSpPr txBox="1"/>
          <p:nvPr/>
        </p:nvSpPr>
        <p:spPr>
          <a:xfrm>
            <a:off x="5344505" y="4249040"/>
            <a:ext cx="3463106" cy="2372994"/>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We create a strong brand identity, including logos and design elements, to help startups stand out and gain trust.</a:t>
            </a:r>
          </a:p>
        </p:txBody>
      </p:sp>
      <p:grpSp>
        <p:nvGrpSpPr>
          <p:cNvPr id="18" name="Group 18"/>
          <p:cNvGrpSpPr/>
          <p:nvPr/>
        </p:nvGrpSpPr>
        <p:grpSpPr>
          <a:xfrm>
            <a:off x="9230769" y="2849446"/>
            <a:ext cx="3962347" cy="6408854"/>
            <a:chOff x="0" y="0"/>
            <a:chExt cx="1043581" cy="1687929"/>
          </a:xfrm>
        </p:grpSpPr>
        <p:sp>
          <p:nvSpPr>
            <p:cNvPr id="19" name="Freeform 19"/>
            <p:cNvSpPr/>
            <p:nvPr/>
          </p:nvSpPr>
          <p:spPr>
            <a:xfrm>
              <a:off x="0" y="0"/>
              <a:ext cx="1043581" cy="1687929"/>
            </a:xfrm>
            <a:custGeom>
              <a:avLst/>
              <a:gdLst/>
              <a:ahLst/>
              <a:cxnLst/>
              <a:rect l="l" t="t" r="r" b="b"/>
              <a:pathLst>
                <a:path w="1043581" h="1687929">
                  <a:moveTo>
                    <a:pt x="0" y="0"/>
                  </a:moveTo>
                  <a:lnTo>
                    <a:pt x="1043581" y="0"/>
                  </a:lnTo>
                  <a:lnTo>
                    <a:pt x="1043581" y="1687929"/>
                  </a:lnTo>
                  <a:lnTo>
                    <a:pt x="0" y="1687929"/>
                  </a:lnTo>
                  <a:close/>
                </a:path>
              </a:pathLst>
            </a:custGeom>
            <a:solidFill>
              <a:srgbClr val="000000">
                <a:alpha val="0"/>
              </a:srgbClr>
            </a:solidFill>
            <a:ln w="38100" cap="sq">
              <a:solidFill>
                <a:srgbClr val="C00303"/>
              </a:solidFill>
              <a:prstDash val="solid"/>
              <a:miter/>
            </a:ln>
          </p:spPr>
          <p:txBody>
            <a:bodyPr/>
            <a:lstStyle/>
            <a:p>
              <a:endParaRPr lang="en-US"/>
            </a:p>
          </p:txBody>
        </p:sp>
        <p:sp>
          <p:nvSpPr>
            <p:cNvPr id="20" name="TextBox 20"/>
            <p:cNvSpPr txBox="1"/>
            <p:nvPr/>
          </p:nvSpPr>
          <p:spPr>
            <a:xfrm>
              <a:off x="0" y="-104775"/>
              <a:ext cx="1043581" cy="1792704"/>
            </a:xfrm>
            <a:prstGeom prst="rect">
              <a:avLst/>
            </a:prstGeom>
          </p:spPr>
          <p:txBody>
            <a:bodyPr lIns="50800" tIns="50800" rIns="50800" bIns="50800" rtlCol="0" anchor="ctr"/>
            <a:lstStyle/>
            <a:p>
              <a:pPr algn="ctr">
                <a:lnSpc>
                  <a:spcPts val="3640"/>
                </a:lnSpc>
              </a:pPr>
              <a:endParaRPr/>
            </a:p>
          </p:txBody>
        </p:sp>
      </p:grpSp>
      <p:grpSp>
        <p:nvGrpSpPr>
          <p:cNvPr id="21" name="Group 21"/>
          <p:cNvGrpSpPr/>
          <p:nvPr/>
        </p:nvGrpSpPr>
        <p:grpSpPr>
          <a:xfrm>
            <a:off x="10291027" y="7108632"/>
            <a:ext cx="1841830" cy="184183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a:ln cap="sq">
              <a:noFill/>
              <a:prstDash val="solid"/>
              <a:miter/>
            </a:ln>
          </p:spPr>
          <p:txBody>
            <a:bodyPr/>
            <a:lstStyle/>
            <a:p>
              <a:endParaRPr lang="en-US"/>
            </a:p>
          </p:txBody>
        </p:sp>
        <p:sp>
          <p:nvSpPr>
            <p:cNvPr id="23" name="TextBox 23"/>
            <p:cNvSpPr txBox="1"/>
            <p:nvPr/>
          </p:nvSpPr>
          <p:spPr>
            <a:xfrm>
              <a:off x="76200" y="-28575"/>
              <a:ext cx="660400" cy="765175"/>
            </a:xfrm>
            <a:prstGeom prst="rect">
              <a:avLst/>
            </a:prstGeom>
          </p:spPr>
          <p:txBody>
            <a:bodyPr lIns="50800" tIns="50800" rIns="50800" bIns="50800" rtlCol="0" anchor="ctr"/>
            <a:lstStyle/>
            <a:p>
              <a:pPr algn="ctr">
                <a:lnSpc>
                  <a:spcPts val="7979"/>
                </a:lnSpc>
              </a:pPr>
              <a:r>
                <a:rPr lang="en-US" sz="5699" spc="569">
                  <a:solidFill>
                    <a:srgbClr val="F3EEEA"/>
                  </a:solidFill>
                  <a:latin typeface="Archive"/>
                  <a:ea typeface="Archive"/>
                  <a:cs typeface="Archive"/>
                  <a:sym typeface="Archive"/>
                </a:rPr>
                <a:t>03</a:t>
              </a:r>
            </a:p>
          </p:txBody>
        </p:sp>
      </p:grpSp>
      <p:sp>
        <p:nvSpPr>
          <p:cNvPr id="24" name="TextBox 24"/>
          <p:cNvSpPr txBox="1"/>
          <p:nvPr/>
        </p:nvSpPr>
        <p:spPr>
          <a:xfrm>
            <a:off x="9480389" y="3139592"/>
            <a:ext cx="3463106" cy="9531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Marketing Analytics</a:t>
            </a:r>
          </a:p>
        </p:txBody>
      </p:sp>
      <p:sp>
        <p:nvSpPr>
          <p:cNvPr id="25" name="TextBox 25"/>
          <p:cNvSpPr txBox="1"/>
          <p:nvPr/>
        </p:nvSpPr>
        <p:spPr>
          <a:xfrm>
            <a:off x="9480389" y="4249040"/>
            <a:ext cx="3463106" cy="1982469"/>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We provide insights and reports on marketing performance to help startups make informed decisions.</a:t>
            </a:r>
          </a:p>
        </p:txBody>
      </p:sp>
      <p:sp>
        <p:nvSpPr>
          <p:cNvPr id="26" name="Freeform 26"/>
          <p:cNvSpPr/>
          <p:nvPr/>
        </p:nvSpPr>
        <p:spPr>
          <a:xfrm>
            <a:off x="12943495" y="5037493"/>
            <a:ext cx="5344505" cy="5190850"/>
          </a:xfrm>
          <a:custGeom>
            <a:avLst/>
            <a:gdLst/>
            <a:ahLst/>
            <a:cxnLst/>
            <a:rect l="l" t="t" r="r" b="b"/>
            <a:pathLst>
              <a:path w="5344505" h="5190850">
                <a:moveTo>
                  <a:pt x="0" y="0"/>
                </a:moveTo>
                <a:lnTo>
                  <a:pt x="5344505" y="0"/>
                </a:lnTo>
                <a:lnTo>
                  <a:pt x="5344505" y="5190850"/>
                </a:lnTo>
                <a:lnTo>
                  <a:pt x="0" y="5190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7" name="Group 27"/>
          <p:cNvGrpSpPr/>
          <p:nvPr/>
        </p:nvGrpSpPr>
        <p:grpSpPr>
          <a:xfrm>
            <a:off x="13366653" y="2849446"/>
            <a:ext cx="3962347" cy="6408854"/>
            <a:chOff x="0" y="0"/>
            <a:chExt cx="1043581" cy="1687929"/>
          </a:xfrm>
        </p:grpSpPr>
        <p:sp>
          <p:nvSpPr>
            <p:cNvPr id="28" name="Freeform 28"/>
            <p:cNvSpPr/>
            <p:nvPr/>
          </p:nvSpPr>
          <p:spPr>
            <a:xfrm>
              <a:off x="0" y="0"/>
              <a:ext cx="1043581" cy="1687929"/>
            </a:xfrm>
            <a:custGeom>
              <a:avLst/>
              <a:gdLst/>
              <a:ahLst/>
              <a:cxnLst/>
              <a:rect l="l" t="t" r="r" b="b"/>
              <a:pathLst>
                <a:path w="1043581" h="1687929">
                  <a:moveTo>
                    <a:pt x="0" y="0"/>
                  </a:moveTo>
                  <a:lnTo>
                    <a:pt x="1043581" y="0"/>
                  </a:lnTo>
                  <a:lnTo>
                    <a:pt x="1043581" y="1687929"/>
                  </a:lnTo>
                  <a:lnTo>
                    <a:pt x="0" y="1687929"/>
                  </a:lnTo>
                  <a:close/>
                </a:path>
              </a:pathLst>
            </a:custGeom>
            <a:solidFill>
              <a:srgbClr val="FAFAFA"/>
            </a:solidFill>
            <a:ln w="38100" cap="sq">
              <a:solidFill>
                <a:srgbClr val="C00303"/>
              </a:solidFill>
              <a:prstDash val="solid"/>
              <a:miter/>
            </a:ln>
          </p:spPr>
          <p:txBody>
            <a:bodyPr/>
            <a:lstStyle/>
            <a:p>
              <a:endParaRPr lang="en-US"/>
            </a:p>
          </p:txBody>
        </p:sp>
        <p:sp>
          <p:nvSpPr>
            <p:cNvPr id="29" name="TextBox 29"/>
            <p:cNvSpPr txBox="1"/>
            <p:nvPr/>
          </p:nvSpPr>
          <p:spPr>
            <a:xfrm>
              <a:off x="0" y="-104775"/>
              <a:ext cx="1043581" cy="1792704"/>
            </a:xfrm>
            <a:prstGeom prst="rect">
              <a:avLst/>
            </a:prstGeom>
          </p:spPr>
          <p:txBody>
            <a:bodyPr lIns="50800" tIns="50800" rIns="50800" bIns="50800" rtlCol="0" anchor="ctr"/>
            <a:lstStyle/>
            <a:p>
              <a:pPr algn="ctr">
                <a:lnSpc>
                  <a:spcPts val="3640"/>
                </a:lnSpc>
              </a:pPr>
              <a:endParaRPr/>
            </a:p>
          </p:txBody>
        </p:sp>
      </p:grpSp>
      <p:grpSp>
        <p:nvGrpSpPr>
          <p:cNvPr id="30" name="Group 30"/>
          <p:cNvGrpSpPr/>
          <p:nvPr/>
        </p:nvGrpSpPr>
        <p:grpSpPr>
          <a:xfrm>
            <a:off x="14426912" y="7108632"/>
            <a:ext cx="1841830" cy="1841830"/>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a:ln cap="sq">
              <a:noFill/>
              <a:prstDash val="solid"/>
              <a:miter/>
            </a:ln>
          </p:spPr>
          <p:txBody>
            <a:bodyPr/>
            <a:lstStyle/>
            <a:p>
              <a:endParaRPr lang="en-US"/>
            </a:p>
          </p:txBody>
        </p:sp>
        <p:sp>
          <p:nvSpPr>
            <p:cNvPr id="32" name="TextBox 32"/>
            <p:cNvSpPr txBox="1"/>
            <p:nvPr/>
          </p:nvSpPr>
          <p:spPr>
            <a:xfrm>
              <a:off x="76200" y="-28575"/>
              <a:ext cx="660400" cy="765175"/>
            </a:xfrm>
            <a:prstGeom prst="rect">
              <a:avLst/>
            </a:prstGeom>
          </p:spPr>
          <p:txBody>
            <a:bodyPr lIns="50800" tIns="50800" rIns="50800" bIns="50800" rtlCol="0" anchor="ctr"/>
            <a:lstStyle/>
            <a:p>
              <a:pPr algn="ctr">
                <a:lnSpc>
                  <a:spcPts val="7979"/>
                </a:lnSpc>
              </a:pPr>
              <a:r>
                <a:rPr lang="en-US" sz="5699" spc="569">
                  <a:solidFill>
                    <a:srgbClr val="F3EEEA"/>
                  </a:solidFill>
                  <a:latin typeface="Archive"/>
                  <a:ea typeface="Archive"/>
                  <a:cs typeface="Archive"/>
                  <a:sym typeface="Archive"/>
                </a:rPr>
                <a:t>04</a:t>
              </a:r>
            </a:p>
          </p:txBody>
        </p:sp>
      </p:grpSp>
      <p:sp>
        <p:nvSpPr>
          <p:cNvPr id="33" name="TextBox 33"/>
          <p:cNvSpPr txBox="1"/>
          <p:nvPr/>
        </p:nvSpPr>
        <p:spPr>
          <a:xfrm>
            <a:off x="13616274" y="3139592"/>
            <a:ext cx="3463106" cy="495935"/>
          </a:xfrm>
          <a:prstGeom prst="rect">
            <a:avLst/>
          </a:prstGeom>
        </p:spPr>
        <p:txBody>
          <a:bodyPr lIns="0" tIns="0" rIns="0" bIns="0" rtlCol="0" anchor="t">
            <a:spAutoFit/>
          </a:bodyPr>
          <a:lstStyle/>
          <a:p>
            <a:pPr algn="ctr">
              <a:lnSpc>
                <a:spcPts val="3640"/>
              </a:lnSpc>
              <a:spcBef>
                <a:spcPct val="0"/>
              </a:spcBef>
            </a:pPr>
            <a:r>
              <a:rPr lang="en-US" sz="2600" b="1" spc="260">
                <a:solidFill>
                  <a:srgbClr val="000000"/>
                </a:solidFill>
                <a:latin typeface="Gabriel Sans Bold"/>
                <a:ea typeface="Gabriel Sans Bold"/>
                <a:cs typeface="Gabriel Sans Bold"/>
                <a:sym typeface="Gabriel Sans Bold"/>
              </a:rPr>
              <a:t>PR Support</a:t>
            </a:r>
          </a:p>
        </p:txBody>
      </p:sp>
      <p:sp>
        <p:nvSpPr>
          <p:cNvPr id="34" name="TextBox 34"/>
          <p:cNvSpPr txBox="1"/>
          <p:nvPr/>
        </p:nvSpPr>
        <p:spPr>
          <a:xfrm>
            <a:off x="13616274" y="4249040"/>
            <a:ext cx="3463106" cy="1982469"/>
          </a:xfrm>
          <a:prstGeom prst="rect">
            <a:avLst/>
          </a:prstGeom>
        </p:spPr>
        <p:txBody>
          <a:bodyPr lIns="0" tIns="0" rIns="0" bIns="0" rtlCol="0" anchor="t">
            <a:spAutoFit/>
          </a:bodyPr>
          <a:lstStyle/>
          <a:p>
            <a:pPr algn="ct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We help startups get media coverage and build relationships with relevant journalists and influencers.</a:t>
            </a:r>
          </a:p>
        </p:txBody>
      </p:sp>
      <p:sp>
        <p:nvSpPr>
          <p:cNvPr id="35" name="TextBox 35"/>
          <p:cNvSpPr txBox="1"/>
          <p:nvPr/>
        </p:nvSpPr>
        <p:spPr>
          <a:xfrm>
            <a:off x="1028700" y="1189808"/>
            <a:ext cx="16230600" cy="1295400"/>
          </a:xfrm>
          <a:prstGeom prst="rect">
            <a:avLst/>
          </a:prstGeom>
        </p:spPr>
        <p:txBody>
          <a:bodyPr lIns="0" tIns="0" rIns="0" bIns="0" rtlCol="0" anchor="t">
            <a:spAutoFit/>
          </a:bodyPr>
          <a:lstStyle/>
          <a:p>
            <a:pPr algn="ctr">
              <a:lnSpc>
                <a:spcPts val="9900"/>
              </a:lnSpc>
            </a:pPr>
            <a:r>
              <a:rPr lang="en-US" sz="9000">
                <a:solidFill>
                  <a:srgbClr val="000000"/>
                </a:solidFill>
                <a:latin typeface="Archive"/>
                <a:ea typeface="Archive"/>
                <a:cs typeface="Archive"/>
                <a:sym typeface="Archive"/>
              </a:rPr>
              <a:t>DISCOVER OUR SERVICES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9277392" y="6097746"/>
            <a:ext cx="6053614" cy="937544"/>
            <a:chOff x="0" y="0"/>
            <a:chExt cx="1594367" cy="246925"/>
          </a:xfrm>
        </p:grpSpPr>
        <p:sp>
          <p:nvSpPr>
            <p:cNvPr id="3" name="Freeform 3"/>
            <p:cNvSpPr/>
            <p:nvPr/>
          </p:nvSpPr>
          <p:spPr>
            <a:xfrm>
              <a:off x="0" y="0"/>
              <a:ext cx="1594368" cy="246925"/>
            </a:xfrm>
            <a:custGeom>
              <a:avLst/>
              <a:gdLst/>
              <a:ahLst/>
              <a:cxnLst/>
              <a:rect l="l" t="t" r="r" b="b"/>
              <a:pathLst>
                <a:path w="1594368" h="246925">
                  <a:moveTo>
                    <a:pt x="0" y="0"/>
                  </a:moveTo>
                  <a:lnTo>
                    <a:pt x="1594368" y="0"/>
                  </a:lnTo>
                  <a:lnTo>
                    <a:pt x="1594368" y="246925"/>
                  </a:lnTo>
                  <a:lnTo>
                    <a:pt x="0" y="246925"/>
                  </a:lnTo>
                  <a:close/>
                </a:path>
              </a:pathLst>
            </a:custGeom>
            <a:solidFill>
              <a:srgbClr val="C00303"/>
            </a:solidFill>
          </p:spPr>
          <p:txBody>
            <a:bodyPr/>
            <a:lstStyle/>
            <a:p>
              <a:endParaRPr lang="en-US"/>
            </a:p>
          </p:txBody>
        </p:sp>
        <p:sp>
          <p:nvSpPr>
            <p:cNvPr id="4" name="TextBox 4"/>
            <p:cNvSpPr txBox="1"/>
            <p:nvPr/>
          </p:nvSpPr>
          <p:spPr>
            <a:xfrm>
              <a:off x="0" y="-66675"/>
              <a:ext cx="1594367"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Total Addressable Market </a:t>
              </a:r>
            </a:p>
            <a:p>
              <a:pPr algn="ctr">
                <a:lnSpc>
                  <a:spcPts val="3220"/>
                </a:lnSpc>
              </a:pPr>
              <a:r>
                <a:rPr lang="en-US" sz="2300" b="1" spc="230">
                  <a:solidFill>
                    <a:srgbClr val="FFFFFF"/>
                  </a:solidFill>
                  <a:latin typeface="Arimo Bold"/>
                  <a:ea typeface="Arimo Bold"/>
                  <a:cs typeface="Arimo Bold"/>
                  <a:sym typeface="Arimo Bold"/>
                </a:rPr>
                <a:t>(TAM):</a:t>
              </a:r>
            </a:p>
          </p:txBody>
        </p:sp>
      </p:grpSp>
      <p:grpSp>
        <p:nvGrpSpPr>
          <p:cNvPr id="5" name="Group 5"/>
          <p:cNvGrpSpPr/>
          <p:nvPr/>
        </p:nvGrpSpPr>
        <p:grpSpPr>
          <a:xfrm>
            <a:off x="15447251" y="6097746"/>
            <a:ext cx="2092448" cy="937544"/>
            <a:chOff x="0" y="0"/>
            <a:chExt cx="551097" cy="246925"/>
          </a:xfrm>
        </p:grpSpPr>
        <p:sp>
          <p:nvSpPr>
            <p:cNvPr id="6" name="Freeform 6"/>
            <p:cNvSpPr/>
            <p:nvPr/>
          </p:nvSpPr>
          <p:spPr>
            <a:xfrm>
              <a:off x="0" y="0"/>
              <a:ext cx="551097" cy="246925"/>
            </a:xfrm>
            <a:custGeom>
              <a:avLst/>
              <a:gdLst/>
              <a:ahLst/>
              <a:cxnLst/>
              <a:rect l="l" t="t" r="r" b="b"/>
              <a:pathLst>
                <a:path w="551097" h="246925">
                  <a:moveTo>
                    <a:pt x="0" y="0"/>
                  </a:moveTo>
                  <a:lnTo>
                    <a:pt x="551097" y="0"/>
                  </a:lnTo>
                  <a:lnTo>
                    <a:pt x="551097" y="246925"/>
                  </a:lnTo>
                  <a:lnTo>
                    <a:pt x="0" y="246925"/>
                  </a:lnTo>
                  <a:close/>
                </a:path>
              </a:pathLst>
            </a:custGeom>
            <a:solidFill>
              <a:srgbClr val="B0A695"/>
            </a:solidFill>
          </p:spPr>
          <p:txBody>
            <a:bodyPr/>
            <a:lstStyle/>
            <a:p>
              <a:endParaRPr lang="en-US"/>
            </a:p>
          </p:txBody>
        </p:sp>
        <p:sp>
          <p:nvSpPr>
            <p:cNvPr id="7" name="TextBox 7"/>
            <p:cNvSpPr txBox="1"/>
            <p:nvPr/>
          </p:nvSpPr>
          <p:spPr>
            <a:xfrm>
              <a:off x="0" y="-66675"/>
              <a:ext cx="551097" cy="313600"/>
            </a:xfrm>
            <a:prstGeom prst="rect">
              <a:avLst/>
            </a:prstGeom>
          </p:spPr>
          <p:txBody>
            <a:bodyPr lIns="50800" tIns="50800" rIns="50800" bIns="50800" rtlCol="0" anchor="ctr"/>
            <a:lstStyle/>
            <a:p>
              <a:pPr algn="ctr">
                <a:lnSpc>
                  <a:spcPts val="3220"/>
                </a:lnSpc>
              </a:pPr>
              <a:r>
                <a:rPr lang="en-US" sz="2300" b="1" spc="230">
                  <a:solidFill>
                    <a:srgbClr val="000000"/>
                  </a:solidFill>
                  <a:latin typeface="Arimo Bold"/>
                  <a:ea typeface="Arimo Bold"/>
                  <a:cs typeface="Arimo Bold"/>
                  <a:sym typeface="Arimo Bold"/>
                </a:rPr>
                <a:t>32 million</a:t>
              </a:r>
            </a:p>
          </p:txBody>
        </p:sp>
      </p:grpSp>
      <p:grpSp>
        <p:nvGrpSpPr>
          <p:cNvPr id="8" name="Group 8"/>
          <p:cNvGrpSpPr/>
          <p:nvPr/>
        </p:nvGrpSpPr>
        <p:grpSpPr>
          <a:xfrm>
            <a:off x="15447251" y="7193042"/>
            <a:ext cx="2092448" cy="937544"/>
            <a:chOff x="0" y="0"/>
            <a:chExt cx="551097" cy="246925"/>
          </a:xfrm>
        </p:grpSpPr>
        <p:sp>
          <p:nvSpPr>
            <p:cNvPr id="9" name="Freeform 9"/>
            <p:cNvSpPr/>
            <p:nvPr/>
          </p:nvSpPr>
          <p:spPr>
            <a:xfrm>
              <a:off x="0" y="0"/>
              <a:ext cx="551097" cy="246925"/>
            </a:xfrm>
            <a:custGeom>
              <a:avLst/>
              <a:gdLst/>
              <a:ahLst/>
              <a:cxnLst/>
              <a:rect l="l" t="t" r="r" b="b"/>
              <a:pathLst>
                <a:path w="551097" h="246925">
                  <a:moveTo>
                    <a:pt x="0" y="0"/>
                  </a:moveTo>
                  <a:lnTo>
                    <a:pt x="551097" y="0"/>
                  </a:lnTo>
                  <a:lnTo>
                    <a:pt x="551097" y="246925"/>
                  </a:lnTo>
                  <a:lnTo>
                    <a:pt x="0" y="246925"/>
                  </a:lnTo>
                  <a:close/>
                </a:path>
              </a:pathLst>
            </a:custGeom>
            <a:solidFill>
              <a:srgbClr val="B0A695"/>
            </a:solidFill>
          </p:spPr>
          <p:txBody>
            <a:bodyPr/>
            <a:lstStyle/>
            <a:p>
              <a:endParaRPr lang="en-US"/>
            </a:p>
          </p:txBody>
        </p:sp>
        <p:sp>
          <p:nvSpPr>
            <p:cNvPr id="10" name="TextBox 10"/>
            <p:cNvSpPr txBox="1"/>
            <p:nvPr/>
          </p:nvSpPr>
          <p:spPr>
            <a:xfrm>
              <a:off x="0" y="-66675"/>
              <a:ext cx="551097" cy="313600"/>
            </a:xfrm>
            <a:prstGeom prst="rect">
              <a:avLst/>
            </a:prstGeom>
          </p:spPr>
          <p:txBody>
            <a:bodyPr lIns="50800" tIns="50800" rIns="50800" bIns="50800" rtlCol="0" anchor="ctr"/>
            <a:lstStyle/>
            <a:p>
              <a:pPr algn="ctr">
                <a:lnSpc>
                  <a:spcPts val="3220"/>
                </a:lnSpc>
              </a:pPr>
              <a:r>
                <a:rPr lang="en-US" sz="2300" b="1" spc="230">
                  <a:solidFill>
                    <a:srgbClr val="000000"/>
                  </a:solidFill>
                  <a:latin typeface="Arimo Bold"/>
                  <a:ea typeface="Arimo Bold"/>
                  <a:cs typeface="Arimo Bold"/>
                  <a:sym typeface="Arimo Bold"/>
                </a:rPr>
                <a:t>9.6 million</a:t>
              </a:r>
            </a:p>
          </p:txBody>
        </p:sp>
      </p:grpSp>
      <p:grpSp>
        <p:nvGrpSpPr>
          <p:cNvPr id="11" name="Group 11"/>
          <p:cNvGrpSpPr/>
          <p:nvPr/>
        </p:nvGrpSpPr>
        <p:grpSpPr>
          <a:xfrm>
            <a:off x="9277392" y="7193042"/>
            <a:ext cx="6053614" cy="937544"/>
            <a:chOff x="0" y="0"/>
            <a:chExt cx="1594367" cy="246925"/>
          </a:xfrm>
        </p:grpSpPr>
        <p:sp>
          <p:nvSpPr>
            <p:cNvPr id="12" name="Freeform 12"/>
            <p:cNvSpPr/>
            <p:nvPr/>
          </p:nvSpPr>
          <p:spPr>
            <a:xfrm>
              <a:off x="0" y="0"/>
              <a:ext cx="1594368" cy="246925"/>
            </a:xfrm>
            <a:custGeom>
              <a:avLst/>
              <a:gdLst/>
              <a:ahLst/>
              <a:cxnLst/>
              <a:rect l="l" t="t" r="r" b="b"/>
              <a:pathLst>
                <a:path w="1594368" h="246925">
                  <a:moveTo>
                    <a:pt x="0" y="0"/>
                  </a:moveTo>
                  <a:lnTo>
                    <a:pt x="1594368" y="0"/>
                  </a:lnTo>
                  <a:lnTo>
                    <a:pt x="1594368" y="246925"/>
                  </a:lnTo>
                  <a:lnTo>
                    <a:pt x="0" y="246925"/>
                  </a:lnTo>
                  <a:close/>
                </a:path>
              </a:pathLst>
            </a:custGeom>
            <a:solidFill>
              <a:srgbClr val="C00303"/>
            </a:solidFill>
          </p:spPr>
          <p:txBody>
            <a:bodyPr/>
            <a:lstStyle/>
            <a:p>
              <a:endParaRPr lang="en-US"/>
            </a:p>
          </p:txBody>
        </p:sp>
        <p:sp>
          <p:nvSpPr>
            <p:cNvPr id="13" name="TextBox 13"/>
            <p:cNvSpPr txBox="1"/>
            <p:nvPr/>
          </p:nvSpPr>
          <p:spPr>
            <a:xfrm>
              <a:off x="0" y="-66675"/>
              <a:ext cx="1594367"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Serviceable Addressable Market (SAM):</a:t>
              </a:r>
            </a:p>
          </p:txBody>
        </p:sp>
      </p:grpSp>
      <p:grpSp>
        <p:nvGrpSpPr>
          <p:cNvPr id="14" name="Group 14"/>
          <p:cNvGrpSpPr/>
          <p:nvPr/>
        </p:nvGrpSpPr>
        <p:grpSpPr>
          <a:xfrm>
            <a:off x="9277392" y="8320756"/>
            <a:ext cx="6053614" cy="937544"/>
            <a:chOff x="0" y="0"/>
            <a:chExt cx="1594367" cy="246925"/>
          </a:xfrm>
        </p:grpSpPr>
        <p:sp>
          <p:nvSpPr>
            <p:cNvPr id="15" name="Freeform 15"/>
            <p:cNvSpPr/>
            <p:nvPr/>
          </p:nvSpPr>
          <p:spPr>
            <a:xfrm>
              <a:off x="0" y="0"/>
              <a:ext cx="1594368" cy="246925"/>
            </a:xfrm>
            <a:custGeom>
              <a:avLst/>
              <a:gdLst/>
              <a:ahLst/>
              <a:cxnLst/>
              <a:rect l="l" t="t" r="r" b="b"/>
              <a:pathLst>
                <a:path w="1594368" h="246925">
                  <a:moveTo>
                    <a:pt x="0" y="0"/>
                  </a:moveTo>
                  <a:lnTo>
                    <a:pt x="1594368" y="0"/>
                  </a:lnTo>
                  <a:lnTo>
                    <a:pt x="1594368" y="246925"/>
                  </a:lnTo>
                  <a:lnTo>
                    <a:pt x="0" y="246925"/>
                  </a:lnTo>
                  <a:close/>
                </a:path>
              </a:pathLst>
            </a:custGeom>
            <a:solidFill>
              <a:srgbClr val="C00303"/>
            </a:solidFill>
          </p:spPr>
          <p:txBody>
            <a:bodyPr/>
            <a:lstStyle/>
            <a:p>
              <a:endParaRPr lang="en-US"/>
            </a:p>
          </p:txBody>
        </p:sp>
        <p:sp>
          <p:nvSpPr>
            <p:cNvPr id="16" name="TextBox 16"/>
            <p:cNvSpPr txBox="1"/>
            <p:nvPr/>
          </p:nvSpPr>
          <p:spPr>
            <a:xfrm>
              <a:off x="0" y="-66675"/>
              <a:ext cx="1594367"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Serviceable Obtainable Market (SOM):</a:t>
              </a:r>
            </a:p>
          </p:txBody>
        </p:sp>
      </p:grpSp>
      <p:grpSp>
        <p:nvGrpSpPr>
          <p:cNvPr id="17" name="Group 17"/>
          <p:cNvGrpSpPr/>
          <p:nvPr/>
        </p:nvGrpSpPr>
        <p:grpSpPr>
          <a:xfrm>
            <a:off x="15447251" y="8320756"/>
            <a:ext cx="2092448" cy="937544"/>
            <a:chOff x="0" y="0"/>
            <a:chExt cx="551097" cy="246925"/>
          </a:xfrm>
        </p:grpSpPr>
        <p:sp>
          <p:nvSpPr>
            <p:cNvPr id="18" name="Freeform 18"/>
            <p:cNvSpPr/>
            <p:nvPr/>
          </p:nvSpPr>
          <p:spPr>
            <a:xfrm>
              <a:off x="0" y="0"/>
              <a:ext cx="551097" cy="246925"/>
            </a:xfrm>
            <a:custGeom>
              <a:avLst/>
              <a:gdLst/>
              <a:ahLst/>
              <a:cxnLst/>
              <a:rect l="l" t="t" r="r" b="b"/>
              <a:pathLst>
                <a:path w="551097" h="246925">
                  <a:moveTo>
                    <a:pt x="0" y="0"/>
                  </a:moveTo>
                  <a:lnTo>
                    <a:pt x="551097" y="0"/>
                  </a:lnTo>
                  <a:lnTo>
                    <a:pt x="551097" y="246925"/>
                  </a:lnTo>
                  <a:lnTo>
                    <a:pt x="0" y="246925"/>
                  </a:lnTo>
                  <a:close/>
                </a:path>
              </a:pathLst>
            </a:custGeom>
            <a:solidFill>
              <a:srgbClr val="B0A695"/>
            </a:solidFill>
          </p:spPr>
          <p:txBody>
            <a:bodyPr/>
            <a:lstStyle/>
            <a:p>
              <a:endParaRPr lang="en-US"/>
            </a:p>
          </p:txBody>
        </p:sp>
        <p:sp>
          <p:nvSpPr>
            <p:cNvPr id="19" name="TextBox 19"/>
            <p:cNvSpPr txBox="1"/>
            <p:nvPr/>
          </p:nvSpPr>
          <p:spPr>
            <a:xfrm>
              <a:off x="0" y="-66675"/>
              <a:ext cx="551097" cy="313600"/>
            </a:xfrm>
            <a:prstGeom prst="rect">
              <a:avLst/>
            </a:prstGeom>
          </p:spPr>
          <p:txBody>
            <a:bodyPr lIns="50800" tIns="50800" rIns="50800" bIns="50800" rtlCol="0" anchor="ctr"/>
            <a:lstStyle/>
            <a:p>
              <a:pPr algn="ctr">
                <a:lnSpc>
                  <a:spcPts val="3220"/>
                </a:lnSpc>
              </a:pPr>
              <a:r>
                <a:rPr lang="en-US" sz="2300" b="1" spc="230">
                  <a:solidFill>
                    <a:srgbClr val="000000"/>
                  </a:solidFill>
                  <a:latin typeface="Arimo Bold"/>
                  <a:ea typeface="Arimo Bold"/>
                  <a:cs typeface="Arimo Bold"/>
                  <a:sym typeface="Arimo Bold"/>
                </a:rPr>
                <a:t>480,000</a:t>
              </a:r>
            </a:p>
          </p:txBody>
        </p:sp>
      </p:grpSp>
      <p:pic>
        <p:nvPicPr>
          <p:cNvPr id="20" name="Picture 20"/>
          <p:cNvPicPr>
            <a:picLocks noChangeAspect="1"/>
          </p:cNvPicPr>
          <p:nvPr/>
        </p:nvPicPr>
        <p:blipFill>
          <a:blip r:embed="rId2"/>
          <a:stretch>
            <a:fillRect/>
          </a:stretch>
        </p:blipFill>
        <p:spPr>
          <a:xfrm>
            <a:off x="3614281" y="3253454"/>
            <a:ext cx="5681041" cy="5218787"/>
          </a:xfrm>
          <a:prstGeom prst="rect">
            <a:avLst/>
          </a:prstGeom>
        </p:spPr>
      </p:pic>
      <p:grpSp>
        <p:nvGrpSpPr>
          <p:cNvPr id="21" name="Group 21"/>
          <p:cNvGrpSpPr/>
          <p:nvPr/>
        </p:nvGrpSpPr>
        <p:grpSpPr>
          <a:xfrm>
            <a:off x="0" y="2670801"/>
            <a:ext cx="3768063" cy="6587499"/>
            <a:chOff x="0" y="0"/>
            <a:chExt cx="583772" cy="1020576"/>
          </a:xfrm>
        </p:grpSpPr>
        <p:sp>
          <p:nvSpPr>
            <p:cNvPr id="22" name="Freeform 22"/>
            <p:cNvSpPr/>
            <p:nvPr/>
          </p:nvSpPr>
          <p:spPr>
            <a:xfrm>
              <a:off x="0" y="0"/>
              <a:ext cx="583772" cy="1020576"/>
            </a:xfrm>
            <a:custGeom>
              <a:avLst/>
              <a:gdLst/>
              <a:ahLst/>
              <a:cxnLst/>
              <a:rect l="l" t="t" r="r" b="b"/>
              <a:pathLst>
                <a:path w="583772" h="1020576">
                  <a:moveTo>
                    <a:pt x="0" y="0"/>
                  </a:moveTo>
                  <a:lnTo>
                    <a:pt x="583772" y="0"/>
                  </a:lnTo>
                  <a:lnTo>
                    <a:pt x="583772" y="1020576"/>
                  </a:lnTo>
                  <a:lnTo>
                    <a:pt x="0" y="1020576"/>
                  </a:lnTo>
                  <a:close/>
                </a:path>
              </a:pathLst>
            </a:custGeom>
            <a:blipFill>
              <a:blip r:embed="rId3"/>
              <a:stretch>
                <a:fillRect l="-8238" r="-8238"/>
              </a:stretch>
            </a:blipFill>
            <a:ln cap="sq">
              <a:noFill/>
              <a:prstDash val="solid"/>
              <a:miter/>
            </a:ln>
          </p:spPr>
          <p:txBody>
            <a:bodyPr/>
            <a:lstStyle/>
            <a:p>
              <a:endParaRPr lang="en-US"/>
            </a:p>
          </p:txBody>
        </p:sp>
      </p:grpSp>
      <p:sp>
        <p:nvSpPr>
          <p:cNvPr id="23" name="TextBox 23"/>
          <p:cNvSpPr txBox="1"/>
          <p:nvPr/>
        </p:nvSpPr>
        <p:spPr>
          <a:xfrm>
            <a:off x="1028700" y="1039979"/>
            <a:ext cx="16510999" cy="1295400"/>
          </a:xfrm>
          <a:prstGeom prst="rect">
            <a:avLst/>
          </a:prstGeom>
        </p:spPr>
        <p:txBody>
          <a:bodyPr lIns="0" tIns="0" rIns="0" bIns="0" rtlCol="0" anchor="t">
            <a:spAutoFit/>
          </a:bodyPr>
          <a:lstStyle/>
          <a:p>
            <a:pPr algn="l">
              <a:lnSpc>
                <a:spcPts val="9900"/>
              </a:lnSpc>
            </a:pPr>
            <a:r>
              <a:rPr lang="en-US" sz="9000">
                <a:solidFill>
                  <a:srgbClr val="000000"/>
                </a:solidFill>
                <a:latin typeface="Archive"/>
                <a:ea typeface="Archive"/>
                <a:cs typeface="Archive"/>
                <a:sym typeface="Archive"/>
              </a:rPr>
              <a:t>SIZE OF MARKET</a:t>
            </a:r>
          </a:p>
        </p:txBody>
      </p:sp>
      <p:sp>
        <p:nvSpPr>
          <p:cNvPr id="24" name="TextBox 24"/>
          <p:cNvSpPr txBox="1"/>
          <p:nvPr/>
        </p:nvSpPr>
        <p:spPr>
          <a:xfrm>
            <a:off x="9277392" y="2585076"/>
            <a:ext cx="8262307" cy="3004184"/>
          </a:xfrm>
          <a:prstGeom prst="rect">
            <a:avLst/>
          </a:prstGeom>
        </p:spPr>
        <p:txBody>
          <a:bodyPr lIns="0" tIns="0" rIns="0" bIns="0" rtlCol="0" anchor="t">
            <a:spAutoFit/>
          </a:bodyPr>
          <a:lstStyle/>
          <a:p>
            <a:pPr algn="just">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Understanding the market size is important for us. In the US, there are about 32 million small businesses. We're aiming at industries like technology, e-commerce, and professional services, which are about 30% of all small businesses. That means we're looking at around 9.6 million potential customers. Our goal is to get about 5% of them, which would be roughly 480,000 businesses. This helps us know who to target and plan our growth strategy.</a:t>
            </a:r>
          </a:p>
        </p:txBody>
      </p:sp>
      <p:sp>
        <p:nvSpPr>
          <p:cNvPr id="25" name="AutoShape 25"/>
          <p:cNvSpPr/>
          <p:nvPr/>
        </p:nvSpPr>
        <p:spPr>
          <a:xfrm flipH="1" flipV="1">
            <a:off x="729251" y="0"/>
            <a:ext cx="0" cy="2335379"/>
          </a:xfrm>
          <a:prstGeom prst="line">
            <a:avLst/>
          </a:prstGeom>
          <a:ln w="38100" cap="flat">
            <a:solidFill>
              <a:srgbClr val="C00303"/>
            </a:solidFill>
            <a:prstDash val="solid"/>
            <a:headEnd type="oval" w="lg" len="lg"/>
            <a:tailEnd type="none" w="sm" len="sm"/>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851" y="1028700"/>
            <a:ext cx="7863360" cy="937544"/>
            <a:chOff x="0" y="0"/>
            <a:chExt cx="2071008" cy="246925"/>
          </a:xfrm>
        </p:grpSpPr>
        <p:sp>
          <p:nvSpPr>
            <p:cNvPr id="3" name="Freeform 3"/>
            <p:cNvSpPr/>
            <p:nvPr/>
          </p:nvSpPr>
          <p:spPr>
            <a:xfrm>
              <a:off x="0" y="0"/>
              <a:ext cx="2071008" cy="246925"/>
            </a:xfrm>
            <a:custGeom>
              <a:avLst/>
              <a:gdLst/>
              <a:ahLst/>
              <a:cxnLst/>
              <a:rect l="l" t="t" r="r" b="b"/>
              <a:pathLst>
                <a:path w="2071008" h="246925">
                  <a:moveTo>
                    <a:pt x="0" y="0"/>
                  </a:moveTo>
                  <a:lnTo>
                    <a:pt x="2071008" y="0"/>
                  </a:lnTo>
                  <a:lnTo>
                    <a:pt x="2071008" y="246925"/>
                  </a:lnTo>
                  <a:lnTo>
                    <a:pt x="0" y="246925"/>
                  </a:lnTo>
                  <a:close/>
                </a:path>
              </a:pathLst>
            </a:custGeom>
            <a:solidFill>
              <a:srgbClr val="C00303"/>
            </a:solidFill>
          </p:spPr>
          <p:txBody>
            <a:bodyPr/>
            <a:lstStyle/>
            <a:p>
              <a:endParaRPr lang="en-US"/>
            </a:p>
          </p:txBody>
        </p:sp>
        <p:sp>
          <p:nvSpPr>
            <p:cNvPr id="4" name="TextBox 4"/>
            <p:cNvSpPr txBox="1"/>
            <p:nvPr/>
          </p:nvSpPr>
          <p:spPr>
            <a:xfrm>
              <a:off x="0" y="-76200"/>
              <a:ext cx="2071008" cy="323125"/>
            </a:xfrm>
            <a:prstGeom prst="rect">
              <a:avLst/>
            </a:prstGeom>
          </p:spPr>
          <p:txBody>
            <a:bodyPr lIns="50800" tIns="50800" rIns="50800" bIns="50800" rtlCol="0" anchor="ctr"/>
            <a:lstStyle/>
            <a:p>
              <a:pPr algn="ctr">
                <a:lnSpc>
                  <a:spcPts val="4200"/>
                </a:lnSpc>
              </a:pPr>
              <a:r>
                <a:rPr lang="en-US" sz="3000" b="1" spc="300">
                  <a:solidFill>
                    <a:srgbClr val="FFFFFF"/>
                  </a:solidFill>
                  <a:latin typeface="Arimo Bold"/>
                  <a:ea typeface="Arimo Bold"/>
                  <a:cs typeface="Arimo Bold"/>
                  <a:sym typeface="Arimo Bold"/>
                </a:rPr>
                <a:t>DIRECT COMPETITOR:</a:t>
              </a:r>
            </a:p>
          </p:txBody>
        </p:sp>
      </p:grpSp>
      <p:grpSp>
        <p:nvGrpSpPr>
          <p:cNvPr id="5" name="Group 5"/>
          <p:cNvGrpSpPr/>
          <p:nvPr/>
        </p:nvGrpSpPr>
        <p:grpSpPr>
          <a:xfrm>
            <a:off x="9643789" y="1028700"/>
            <a:ext cx="7901460" cy="937544"/>
            <a:chOff x="0" y="0"/>
            <a:chExt cx="2081043" cy="246925"/>
          </a:xfrm>
        </p:grpSpPr>
        <p:sp>
          <p:nvSpPr>
            <p:cNvPr id="6" name="Freeform 6"/>
            <p:cNvSpPr/>
            <p:nvPr/>
          </p:nvSpPr>
          <p:spPr>
            <a:xfrm>
              <a:off x="0" y="0"/>
              <a:ext cx="2081043" cy="246925"/>
            </a:xfrm>
            <a:custGeom>
              <a:avLst/>
              <a:gdLst/>
              <a:ahLst/>
              <a:cxnLst/>
              <a:rect l="l" t="t" r="r" b="b"/>
              <a:pathLst>
                <a:path w="2081043" h="246925">
                  <a:moveTo>
                    <a:pt x="0" y="0"/>
                  </a:moveTo>
                  <a:lnTo>
                    <a:pt x="2081043" y="0"/>
                  </a:lnTo>
                  <a:lnTo>
                    <a:pt x="2081043" y="246925"/>
                  </a:lnTo>
                  <a:lnTo>
                    <a:pt x="0" y="246925"/>
                  </a:lnTo>
                  <a:close/>
                </a:path>
              </a:pathLst>
            </a:custGeom>
            <a:solidFill>
              <a:srgbClr val="C00303"/>
            </a:solidFill>
          </p:spPr>
          <p:txBody>
            <a:bodyPr/>
            <a:lstStyle/>
            <a:p>
              <a:endParaRPr lang="en-US"/>
            </a:p>
          </p:txBody>
        </p:sp>
        <p:sp>
          <p:nvSpPr>
            <p:cNvPr id="7" name="TextBox 7"/>
            <p:cNvSpPr txBox="1"/>
            <p:nvPr/>
          </p:nvSpPr>
          <p:spPr>
            <a:xfrm>
              <a:off x="0" y="-76200"/>
              <a:ext cx="2081043" cy="323125"/>
            </a:xfrm>
            <a:prstGeom prst="rect">
              <a:avLst/>
            </a:prstGeom>
          </p:spPr>
          <p:txBody>
            <a:bodyPr lIns="50800" tIns="50800" rIns="50800" bIns="50800" rtlCol="0" anchor="ctr"/>
            <a:lstStyle/>
            <a:p>
              <a:pPr algn="ctr">
                <a:lnSpc>
                  <a:spcPts val="4200"/>
                </a:lnSpc>
              </a:pPr>
              <a:r>
                <a:rPr lang="en-US" sz="3000" b="1" spc="300">
                  <a:solidFill>
                    <a:srgbClr val="FFFFFF"/>
                  </a:solidFill>
                  <a:latin typeface="Arimo Bold"/>
                  <a:ea typeface="Arimo Bold"/>
                  <a:cs typeface="Arimo Bold"/>
                  <a:sym typeface="Arimo Bold"/>
                </a:rPr>
                <a:t>INDIRECT COMPETITOR:</a:t>
              </a:r>
            </a:p>
          </p:txBody>
        </p:sp>
      </p:grpSp>
      <p:sp>
        <p:nvSpPr>
          <p:cNvPr id="8" name="AutoShape 8"/>
          <p:cNvSpPr/>
          <p:nvPr/>
        </p:nvSpPr>
        <p:spPr>
          <a:xfrm flipV="1">
            <a:off x="761801" y="1028700"/>
            <a:ext cx="0" cy="8212052"/>
          </a:xfrm>
          <a:prstGeom prst="line">
            <a:avLst/>
          </a:prstGeom>
          <a:ln w="38100" cap="flat">
            <a:solidFill>
              <a:srgbClr val="C00303"/>
            </a:solidFill>
            <a:prstDash val="solid"/>
            <a:headEnd type="oval" w="lg" len="lg"/>
            <a:tailEnd type="none" w="sm" len="sm"/>
          </a:ln>
        </p:spPr>
        <p:txBody>
          <a:bodyPr/>
          <a:lstStyle/>
          <a:p>
            <a:endParaRPr lang="en-US"/>
          </a:p>
        </p:txBody>
      </p:sp>
      <p:sp>
        <p:nvSpPr>
          <p:cNvPr id="9" name="AutoShape 9"/>
          <p:cNvSpPr/>
          <p:nvPr/>
        </p:nvSpPr>
        <p:spPr>
          <a:xfrm flipV="1">
            <a:off x="9643789" y="1028700"/>
            <a:ext cx="0" cy="8212052"/>
          </a:xfrm>
          <a:prstGeom prst="line">
            <a:avLst/>
          </a:prstGeom>
          <a:ln w="38100" cap="flat">
            <a:solidFill>
              <a:srgbClr val="C00303"/>
            </a:solidFill>
            <a:prstDash val="solid"/>
            <a:headEnd type="oval" w="lg" len="lg"/>
            <a:tailEnd type="none" w="sm" len="sm"/>
          </a:ln>
        </p:spPr>
        <p:txBody>
          <a:bodyPr/>
          <a:lstStyle/>
          <a:p>
            <a:endParaRPr lang="en-US"/>
          </a:p>
        </p:txBody>
      </p:sp>
      <p:grpSp>
        <p:nvGrpSpPr>
          <p:cNvPr id="10" name="Group 10"/>
          <p:cNvGrpSpPr/>
          <p:nvPr/>
        </p:nvGrpSpPr>
        <p:grpSpPr>
          <a:xfrm>
            <a:off x="501591" y="2500153"/>
            <a:ext cx="544658" cy="54465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2" name="TextBox 12"/>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13" name="Group 13"/>
          <p:cNvGrpSpPr/>
          <p:nvPr/>
        </p:nvGrpSpPr>
        <p:grpSpPr>
          <a:xfrm>
            <a:off x="9371460" y="2500153"/>
            <a:ext cx="544658" cy="54465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5" name="TextBox 15"/>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16" name="Group 16"/>
          <p:cNvGrpSpPr/>
          <p:nvPr/>
        </p:nvGrpSpPr>
        <p:grpSpPr>
          <a:xfrm>
            <a:off x="501591" y="5819554"/>
            <a:ext cx="544658" cy="54465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8" name="TextBox 18"/>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19" name="Group 19"/>
          <p:cNvGrpSpPr/>
          <p:nvPr/>
        </p:nvGrpSpPr>
        <p:grpSpPr>
          <a:xfrm>
            <a:off x="9371460" y="5819554"/>
            <a:ext cx="544658" cy="54465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1" name="TextBox 21"/>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22" name="Group 22"/>
          <p:cNvGrpSpPr/>
          <p:nvPr/>
        </p:nvGrpSpPr>
        <p:grpSpPr>
          <a:xfrm>
            <a:off x="501591" y="7479254"/>
            <a:ext cx="544658" cy="54465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4" name="TextBox 24"/>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25" name="Group 25"/>
          <p:cNvGrpSpPr/>
          <p:nvPr/>
        </p:nvGrpSpPr>
        <p:grpSpPr>
          <a:xfrm>
            <a:off x="9371460" y="7479254"/>
            <a:ext cx="544658" cy="54465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27" name="TextBox 27"/>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28" name="Group 28"/>
          <p:cNvGrpSpPr/>
          <p:nvPr/>
        </p:nvGrpSpPr>
        <p:grpSpPr>
          <a:xfrm>
            <a:off x="515453" y="4160470"/>
            <a:ext cx="544658" cy="54465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30" name="TextBox 30"/>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grpSp>
        <p:nvGrpSpPr>
          <p:cNvPr id="31" name="Group 31"/>
          <p:cNvGrpSpPr/>
          <p:nvPr/>
        </p:nvGrpSpPr>
        <p:grpSpPr>
          <a:xfrm>
            <a:off x="9371460" y="4160470"/>
            <a:ext cx="544658" cy="544658"/>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33" name="TextBox 33"/>
            <p:cNvSpPr txBox="1"/>
            <p:nvPr/>
          </p:nvSpPr>
          <p:spPr>
            <a:xfrm>
              <a:off x="76200" y="-28575"/>
              <a:ext cx="660400" cy="765175"/>
            </a:xfrm>
            <a:prstGeom prst="rect">
              <a:avLst/>
            </a:prstGeom>
          </p:spPr>
          <p:txBody>
            <a:bodyPr lIns="50800" tIns="50800" rIns="50800" bIns="50800" rtlCol="0" anchor="ctr"/>
            <a:lstStyle/>
            <a:p>
              <a:pPr algn="ctr">
                <a:lnSpc>
                  <a:spcPts val="3640"/>
                </a:lnSpc>
              </a:pPr>
              <a:endParaRPr/>
            </a:p>
          </p:txBody>
        </p:sp>
      </p:grpSp>
      <p:sp>
        <p:nvSpPr>
          <p:cNvPr id="34" name="TextBox 34"/>
          <p:cNvSpPr txBox="1"/>
          <p:nvPr/>
        </p:nvSpPr>
        <p:spPr>
          <a:xfrm>
            <a:off x="1426061" y="2395378"/>
            <a:ext cx="7218150" cy="9531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Offers similar services or products to ours.</a:t>
            </a:r>
          </a:p>
        </p:txBody>
      </p:sp>
      <p:sp>
        <p:nvSpPr>
          <p:cNvPr id="35" name="TextBox 35"/>
          <p:cNvSpPr txBox="1"/>
          <p:nvPr/>
        </p:nvSpPr>
        <p:spPr>
          <a:xfrm>
            <a:off x="10327099" y="2395378"/>
            <a:ext cx="7218150" cy="14103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Provides different services or products that solve similar customer needs or problems.</a:t>
            </a:r>
          </a:p>
        </p:txBody>
      </p:sp>
      <p:sp>
        <p:nvSpPr>
          <p:cNvPr id="36" name="TextBox 36"/>
          <p:cNvSpPr txBox="1"/>
          <p:nvPr/>
        </p:nvSpPr>
        <p:spPr>
          <a:xfrm>
            <a:off x="1426061" y="4055078"/>
            <a:ext cx="7218150" cy="9531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Targets the same customer base and market segments.</a:t>
            </a:r>
          </a:p>
        </p:txBody>
      </p:sp>
      <p:sp>
        <p:nvSpPr>
          <p:cNvPr id="37" name="TextBox 37"/>
          <p:cNvSpPr txBox="1"/>
          <p:nvPr/>
        </p:nvSpPr>
        <p:spPr>
          <a:xfrm>
            <a:off x="10327099" y="4055078"/>
            <a:ext cx="7218150" cy="14103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Targets overlapping or adjacent market segments but may not directly compete with us.</a:t>
            </a:r>
          </a:p>
        </p:txBody>
      </p:sp>
      <p:sp>
        <p:nvSpPr>
          <p:cNvPr id="38" name="TextBox 38"/>
          <p:cNvSpPr txBox="1"/>
          <p:nvPr/>
        </p:nvSpPr>
        <p:spPr>
          <a:xfrm>
            <a:off x="1426061" y="5714779"/>
            <a:ext cx="7218150" cy="9531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Competes directly with us in terms of pricing, features, and positioning.</a:t>
            </a:r>
          </a:p>
        </p:txBody>
      </p:sp>
      <p:sp>
        <p:nvSpPr>
          <p:cNvPr id="39" name="TextBox 39"/>
          <p:cNvSpPr txBox="1"/>
          <p:nvPr/>
        </p:nvSpPr>
        <p:spPr>
          <a:xfrm>
            <a:off x="10327099" y="5714779"/>
            <a:ext cx="7218150" cy="14103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Might offer complementary products or services that could substitute or supplement ours.</a:t>
            </a:r>
          </a:p>
        </p:txBody>
      </p:sp>
      <p:sp>
        <p:nvSpPr>
          <p:cNvPr id="40" name="TextBox 40"/>
          <p:cNvSpPr txBox="1"/>
          <p:nvPr/>
        </p:nvSpPr>
        <p:spPr>
          <a:xfrm>
            <a:off x="1426061" y="7374479"/>
            <a:ext cx="7218150" cy="14103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Can be easily identified and recognized as a competitor by customers and industry analysts.</a:t>
            </a:r>
          </a:p>
        </p:txBody>
      </p:sp>
      <p:sp>
        <p:nvSpPr>
          <p:cNvPr id="41" name="TextBox 41"/>
          <p:cNvSpPr txBox="1"/>
          <p:nvPr/>
        </p:nvSpPr>
        <p:spPr>
          <a:xfrm>
            <a:off x="10327099" y="7374479"/>
            <a:ext cx="7218150" cy="1410335"/>
          </a:xfrm>
          <a:prstGeom prst="rect">
            <a:avLst/>
          </a:prstGeom>
        </p:spPr>
        <p:txBody>
          <a:bodyPr lIns="0" tIns="0" rIns="0" bIns="0" rtlCol="0" anchor="t">
            <a:spAutoFit/>
          </a:bodyPr>
          <a:lstStyle/>
          <a:p>
            <a:pPr algn="just">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Can include companies from different industries or sectors that indirectly impact our market.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972800" y="8502265"/>
            <a:ext cx="7315200" cy="2624328"/>
          </a:xfrm>
          <a:custGeom>
            <a:avLst/>
            <a:gdLst/>
            <a:ahLst/>
            <a:cxnLst/>
            <a:rect l="l" t="t" r="r" b="b"/>
            <a:pathLst>
              <a:path w="7315200" h="2624328">
                <a:moveTo>
                  <a:pt x="0" y="0"/>
                </a:moveTo>
                <a:lnTo>
                  <a:pt x="7315200" y="0"/>
                </a:lnTo>
                <a:lnTo>
                  <a:pt x="7315200" y="2624328"/>
                </a:lnTo>
                <a:lnTo>
                  <a:pt x="0" y="26243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017" y="8502265"/>
            <a:ext cx="7315200" cy="2624328"/>
          </a:xfrm>
          <a:custGeom>
            <a:avLst/>
            <a:gdLst/>
            <a:ahLst/>
            <a:cxnLst/>
            <a:rect l="l" t="t" r="r" b="b"/>
            <a:pathLst>
              <a:path w="7315200" h="2624328">
                <a:moveTo>
                  <a:pt x="0" y="0"/>
                </a:moveTo>
                <a:lnTo>
                  <a:pt x="7315200" y="0"/>
                </a:lnTo>
                <a:lnTo>
                  <a:pt x="7315200" y="2624328"/>
                </a:lnTo>
                <a:lnTo>
                  <a:pt x="0" y="26243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7259968" y="2724632"/>
            <a:ext cx="3768063" cy="7562368"/>
            <a:chOff x="0" y="0"/>
            <a:chExt cx="583772" cy="1171609"/>
          </a:xfrm>
        </p:grpSpPr>
        <p:sp>
          <p:nvSpPr>
            <p:cNvPr id="5" name="Freeform 5"/>
            <p:cNvSpPr/>
            <p:nvPr/>
          </p:nvSpPr>
          <p:spPr>
            <a:xfrm>
              <a:off x="0" y="0"/>
              <a:ext cx="583772" cy="1171609"/>
            </a:xfrm>
            <a:custGeom>
              <a:avLst/>
              <a:gdLst/>
              <a:ahLst/>
              <a:cxnLst/>
              <a:rect l="l" t="t" r="r" b="b"/>
              <a:pathLst>
                <a:path w="583772" h="1171609">
                  <a:moveTo>
                    <a:pt x="0" y="0"/>
                  </a:moveTo>
                  <a:lnTo>
                    <a:pt x="583772" y="0"/>
                  </a:lnTo>
                  <a:lnTo>
                    <a:pt x="583772" y="1171609"/>
                  </a:lnTo>
                  <a:lnTo>
                    <a:pt x="0" y="1171609"/>
                  </a:lnTo>
                  <a:close/>
                </a:path>
              </a:pathLst>
            </a:custGeom>
            <a:solidFill>
              <a:srgbClr val="000000">
                <a:alpha val="0"/>
              </a:srgbClr>
            </a:solidFill>
            <a:ln w="12700" cap="sq">
              <a:solidFill>
                <a:srgbClr val="000000"/>
              </a:solidFill>
              <a:prstDash val="solid"/>
              <a:miter/>
            </a:ln>
          </p:spPr>
          <p:txBody>
            <a:bodyPr/>
            <a:lstStyle/>
            <a:p>
              <a:endParaRPr lang="en-US"/>
            </a:p>
          </p:txBody>
        </p:sp>
      </p:grpSp>
      <p:sp>
        <p:nvSpPr>
          <p:cNvPr id="6" name="Freeform 6"/>
          <p:cNvSpPr/>
          <p:nvPr/>
        </p:nvSpPr>
        <p:spPr>
          <a:xfrm>
            <a:off x="11215490" y="3040080"/>
            <a:ext cx="616420" cy="616420"/>
          </a:xfrm>
          <a:custGeom>
            <a:avLst/>
            <a:gdLst/>
            <a:ahLst/>
            <a:cxnLst/>
            <a:rect l="l" t="t" r="r" b="b"/>
            <a:pathLst>
              <a:path w="616420" h="616420">
                <a:moveTo>
                  <a:pt x="0" y="0"/>
                </a:moveTo>
                <a:lnTo>
                  <a:pt x="616420" y="0"/>
                </a:lnTo>
                <a:lnTo>
                  <a:pt x="616420" y="616420"/>
                </a:lnTo>
                <a:lnTo>
                  <a:pt x="0" y="6164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6453049" y="3040080"/>
            <a:ext cx="616420" cy="616420"/>
          </a:xfrm>
          <a:custGeom>
            <a:avLst/>
            <a:gdLst/>
            <a:ahLst/>
            <a:cxnLst/>
            <a:rect l="l" t="t" r="r" b="b"/>
            <a:pathLst>
              <a:path w="616420" h="616420">
                <a:moveTo>
                  <a:pt x="0" y="0"/>
                </a:moveTo>
                <a:lnTo>
                  <a:pt x="616419" y="0"/>
                </a:lnTo>
                <a:lnTo>
                  <a:pt x="616419" y="616420"/>
                </a:lnTo>
                <a:lnTo>
                  <a:pt x="0" y="6164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1215490" y="6190207"/>
            <a:ext cx="616420" cy="616420"/>
          </a:xfrm>
          <a:custGeom>
            <a:avLst/>
            <a:gdLst/>
            <a:ahLst/>
            <a:cxnLst/>
            <a:rect l="l" t="t" r="r" b="b"/>
            <a:pathLst>
              <a:path w="616420" h="616420">
                <a:moveTo>
                  <a:pt x="0" y="0"/>
                </a:moveTo>
                <a:lnTo>
                  <a:pt x="616420" y="0"/>
                </a:lnTo>
                <a:lnTo>
                  <a:pt x="616420" y="616420"/>
                </a:lnTo>
                <a:lnTo>
                  <a:pt x="0" y="6164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6453049" y="6190207"/>
            <a:ext cx="616420" cy="616420"/>
          </a:xfrm>
          <a:custGeom>
            <a:avLst/>
            <a:gdLst/>
            <a:ahLst/>
            <a:cxnLst/>
            <a:rect l="l" t="t" r="r" b="b"/>
            <a:pathLst>
              <a:path w="616420" h="616420">
                <a:moveTo>
                  <a:pt x="0" y="0"/>
                </a:moveTo>
                <a:lnTo>
                  <a:pt x="616419" y="0"/>
                </a:lnTo>
                <a:lnTo>
                  <a:pt x="616419" y="616420"/>
                </a:lnTo>
                <a:lnTo>
                  <a:pt x="0" y="6164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1028700" y="1095375"/>
            <a:ext cx="16230600" cy="1149353"/>
          </a:xfrm>
          <a:prstGeom prst="rect">
            <a:avLst/>
          </a:prstGeom>
        </p:spPr>
        <p:txBody>
          <a:bodyPr lIns="0" tIns="0" rIns="0" bIns="0" rtlCol="0" anchor="t">
            <a:spAutoFit/>
          </a:bodyPr>
          <a:lstStyle/>
          <a:p>
            <a:pPr algn="ctr">
              <a:lnSpc>
                <a:spcPts val="8800"/>
              </a:lnSpc>
            </a:pPr>
            <a:r>
              <a:rPr lang="en-US" sz="8000">
                <a:solidFill>
                  <a:srgbClr val="000000"/>
                </a:solidFill>
                <a:latin typeface="Archive"/>
                <a:ea typeface="Archive"/>
                <a:cs typeface="Archive"/>
                <a:sym typeface="Archive"/>
              </a:rPr>
              <a:t>KEY COMPETITIVE ADVANTAGES</a:t>
            </a:r>
          </a:p>
        </p:txBody>
      </p:sp>
      <p:sp>
        <p:nvSpPr>
          <p:cNvPr id="11" name="TextBox 11"/>
          <p:cNvSpPr txBox="1"/>
          <p:nvPr/>
        </p:nvSpPr>
        <p:spPr>
          <a:xfrm>
            <a:off x="12019369" y="2935305"/>
            <a:ext cx="5239931" cy="512445"/>
          </a:xfrm>
          <a:prstGeom prst="rect">
            <a:avLst/>
          </a:prstGeom>
        </p:spPr>
        <p:txBody>
          <a:bodyPr lIns="0" tIns="0" rIns="0" bIns="0" rtlCol="0" anchor="t">
            <a:spAutoFit/>
          </a:bodyPr>
          <a:lstStyle/>
          <a:p>
            <a:pPr algn="l">
              <a:lnSpc>
                <a:spcPts val="3780"/>
              </a:lnSpc>
              <a:spcBef>
                <a:spcPct val="0"/>
              </a:spcBef>
            </a:pPr>
            <a:r>
              <a:rPr lang="en-US" sz="2700" b="1" spc="270">
                <a:solidFill>
                  <a:srgbClr val="000000"/>
                </a:solidFill>
                <a:latin typeface="Gabriel Sans Bold"/>
                <a:ea typeface="Gabriel Sans Bold"/>
                <a:cs typeface="Gabriel Sans Bold"/>
                <a:sym typeface="Gabriel Sans Bold"/>
              </a:rPr>
              <a:t>Customer Focus</a:t>
            </a:r>
          </a:p>
        </p:txBody>
      </p:sp>
      <p:sp>
        <p:nvSpPr>
          <p:cNvPr id="12" name="TextBox 12"/>
          <p:cNvSpPr txBox="1"/>
          <p:nvPr/>
        </p:nvSpPr>
        <p:spPr>
          <a:xfrm>
            <a:off x="1022617" y="2935305"/>
            <a:ext cx="5239931" cy="512445"/>
          </a:xfrm>
          <a:prstGeom prst="rect">
            <a:avLst/>
          </a:prstGeom>
        </p:spPr>
        <p:txBody>
          <a:bodyPr lIns="0" tIns="0" rIns="0" bIns="0" rtlCol="0" anchor="t">
            <a:spAutoFit/>
          </a:bodyPr>
          <a:lstStyle/>
          <a:p>
            <a:pPr algn="r">
              <a:lnSpc>
                <a:spcPts val="3780"/>
              </a:lnSpc>
              <a:spcBef>
                <a:spcPct val="0"/>
              </a:spcBef>
            </a:pPr>
            <a:r>
              <a:rPr lang="en-US" sz="2700" b="1" spc="270">
                <a:solidFill>
                  <a:srgbClr val="000000"/>
                </a:solidFill>
                <a:latin typeface="Gabriel Sans Bold"/>
                <a:ea typeface="Gabriel Sans Bold"/>
                <a:cs typeface="Gabriel Sans Bold"/>
                <a:sym typeface="Gabriel Sans Bold"/>
              </a:rPr>
              <a:t>Expert Team</a:t>
            </a:r>
          </a:p>
        </p:txBody>
      </p:sp>
      <p:sp>
        <p:nvSpPr>
          <p:cNvPr id="13" name="TextBox 13"/>
          <p:cNvSpPr txBox="1"/>
          <p:nvPr/>
        </p:nvSpPr>
        <p:spPr>
          <a:xfrm>
            <a:off x="12019369" y="6085432"/>
            <a:ext cx="5239931" cy="512445"/>
          </a:xfrm>
          <a:prstGeom prst="rect">
            <a:avLst/>
          </a:prstGeom>
        </p:spPr>
        <p:txBody>
          <a:bodyPr lIns="0" tIns="0" rIns="0" bIns="0" rtlCol="0" anchor="t">
            <a:spAutoFit/>
          </a:bodyPr>
          <a:lstStyle/>
          <a:p>
            <a:pPr algn="l">
              <a:lnSpc>
                <a:spcPts val="3780"/>
              </a:lnSpc>
              <a:spcBef>
                <a:spcPct val="0"/>
              </a:spcBef>
            </a:pPr>
            <a:r>
              <a:rPr lang="en-US" sz="2700" b="1" spc="270">
                <a:solidFill>
                  <a:srgbClr val="000000"/>
                </a:solidFill>
                <a:latin typeface="Gabriel Sans Bold"/>
                <a:ea typeface="Gabriel Sans Bold"/>
                <a:cs typeface="Gabriel Sans Bold"/>
                <a:sym typeface="Gabriel Sans Bold"/>
              </a:rPr>
              <a:t>Proven Success</a:t>
            </a:r>
          </a:p>
        </p:txBody>
      </p:sp>
      <p:sp>
        <p:nvSpPr>
          <p:cNvPr id="14" name="TextBox 14"/>
          <p:cNvSpPr txBox="1"/>
          <p:nvPr/>
        </p:nvSpPr>
        <p:spPr>
          <a:xfrm>
            <a:off x="1022617" y="6085432"/>
            <a:ext cx="5239931" cy="512445"/>
          </a:xfrm>
          <a:prstGeom prst="rect">
            <a:avLst/>
          </a:prstGeom>
        </p:spPr>
        <p:txBody>
          <a:bodyPr lIns="0" tIns="0" rIns="0" bIns="0" rtlCol="0" anchor="t">
            <a:spAutoFit/>
          </a:bodyPr>
          <a:lstStyle/>
          <a:p>
            <a:pPr algn="r">
              <a:lnSpc>
                <a:spcPts val="3780"/>
              </a:lnSpc>
              <a:spcBef>
                <a:spcPct val="0"/>
              </a:spcBef>
            </a:pPr>
            <a:r>
              <a:rPr lang="en-US" sz="2700" b="1" spc="270">
                <a:solidFill>
                  <a:srgbClr val="000000"/>
                </a:solidFill>
                <a:latin typeface="Gabriel Sans Bold"/>
                <a:ea typeface="Gabriel Sans Bold"/>
                <a:cs typeface="Gabriel Sans Bold"/>
                <a:sym typeface="Gabriel Sans Bold"/>
              </a:rPr>
              <a:t>Cutting-Edge Technology</a:t>
            </a:r>
          </a:p>
        </p:txBody>
      </p:sp>
      <p:sp>
        <p:nvSpPr>
          <p:cNvPr id="15" name="TextBox 15"/>
          <p:cNvSpPr txBox="1"/>
          <p:nvPr/>
        </p:nvSpPr>
        <p:spPr>
          <a:xfrm>
            <a:off x="12019369" y="3560168"/>
            <a:ext cx="5239931" cy="1982469"/>
          </a:xfrm>
          <a:prstGeom prst="rect">
            <a:avLst/>
          </a:prstGeom>
        </p:spPr>
        <p:txBody>
          <a:bodyPr lIns="0" tIns="0" rIns="0" bIns="0" rtlCol="0" anchor="t">
            <a:spAutoFit/>
          </a:bodyPr>
          <a:lstStyle/>
          <a:p>
            <a:pPr algn="just">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We prioritize building strong relationships and understanding our clients' needs, leading to long-term partnerships based on trust and satisfaction.</a:t>
            </a:r>
          </a:p>
        </p:txBody>
      </p:sp>
      <p:sp>
        <p:nvSpPr>
          <p:cNvPr id="16" name="TextBox 16"/>
          <p:cNvSpPr txBox="1"/>
          <p:nvPr/>
        </p:nvSpPr>
        <p:spPr>
          <a:xfrm>
            <a:off x="1022617" y="3560168"/>
            <a:ext cx="5239931" cy="1591944"/>
          </a:xfrm>
          <a:prstGeom prst="rect">
            <a:avLst/>
          </a:prstGeom>
        </p:spPr>
        <p:txBody>
          <a:bodyPr lIns="0" tIns="0" rIns="0" bIns="0" rtlCol="0" anchor="t">
            <a:spAutoFit/>
          </a:bodyPr>
          <a:lstStyle/>
          <a:p>
            <a:pPr algn="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Our skilled team brings specialized knowledge and experience to provide top-notch solutions tailored to our clients' needs.</a:t>
            </a:r>
          </a:p>
        </p:txBody>
      </p:sp>
      <p:sp>
        <p:nvSpPr>
          <p:cNvPr id="17" name="TextBox 17"/>
          <p:cNvSpPr txBox="1"/>
          <p:nvPr/>
        </p:nvSpPr>
        <p:spPr>
          <a:xfrm>
            <a:off x="12019369" y="6710295"/>
            <a:ext cx="5239931" cy="1591944"/>
          </a:xfrm>
          <a:prstGeom prst="rect">
            <a:avLst/>
          </a:prstGeom>
        </p:spPr>
        <p:txBody>
          <a:bodyPr lIns="0" tIns="0" rIns="0" bIns="0" rtlCol="0" anchor="t">
            <a:spAutoFit/>
          </a:bodyPr>
          <a:lstStyle/>
          <a:p>
            <a:pPr algn="just">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With a track record of successful projects, we've earned a reputation for reliability and excellence, setting us apart from the competition.</a:t>
            </a:r>
          </a:p>
        </p:txBody>
      </p:sp>
      <p:sp>
        <p:nvSpPr>
          <p:cNvPr id="18" name="TextBox 18"/>
          <p:cNvSpPr txBox="1"/>
          <p:nvPr/>
        </p:nvSpPr>
        <p:spPr>
          <a:xfrm>
            <a:off x="1022617" y="6710295"/>
            <a:ext cx="5239931" cy="1201419"/>
          </a:xfrm>
          <a:prstGeom prst="rect">
            <a:avLst/>
          </a:prstGeom>
        </p:spPr>
        <p:txBody>
          <a:bodyPr lIns="0" tIns="0" rIns="0" bIns="0" rtlCol="0" anchor="t">
            <a:spAutoFit/>
          </a:bodyPr>
          <a:lstStyle/>
          <a:p>
            <a:pPr algn="r">
              <a:lnSpc>
                <a:spcPts val="3080"/>
              </a:lnSpc>
              <a:spcBef>
                <a:spcPct val="0"/>
              </a:spcBef>
            </a:pPr>
            <a:r>
              <a:rPr lang="en-US" sz="2200" spc="220">
                <a:solidFill>
                  <a:srgbClr val="000000"/>
                </a:solidFill>
                <a:latin typeface="Gabriel Sans Condensed"/>
                <a:ea typeface="Gabriel Sans Condensed"/>
                <a:cs typeface="Gabriel Sans Condensed"/>
                <a:sym typeface="Gabriel Sans Condensed"/>
              </a:rPr>
              <a:t>We use the latest tools and technology to stay ahead, ensuring efficient and effective services.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AutoShape 2"/>
          <p:cNvSpPr/>
          <p:nvPr/>
        </p:nvSpPr>
        <p:spPr>
          <a:xfrm flipH="1" flipV="1">
            <a:off x="729251" y="0"/>
            <a:ext cx="0" cy="2335379"/>
          </a:xfrm>
          <a:prstGeom prst="line">
            <a:avLst/>
          </a:prstGeom>
          <a:ln w="38100" cap="flat">
            <a:solidFill>
              <a:srgbClr val="C00303"/>
            </a:solidFill>
            <a:prstDash val="solid"/>
            <a:headEnd type="oval" w="lg" len="lg"/>
            <a:tailEnd type="none" w="sm" len="sm"/>
          </a:ln>
        </p:spPr>
        <p:txBody>
          <a:bodyPr/>
          <a:lstStyle/>
          <a:p>
            <a:endParaRPr lang="en-US"/>
          </a:p>
        </p:txBody>
      </p:sp>
      <p:pic>
        <p:nvPicPr>
          <p:cNvPr id="3" name="Picture 3"/>
          <p:cNvPicPr>
            <a:picLocks noChangeAspect="1"/>
          </p:cNvPicPr>
          <p:nvPr/>
        </p:nvPicPr>
        <p:blipFill>
          <a:blip r:embed="rId2"/>
          <a:stretch>
            <a:fillRect/>
          </a:stretch>
        </p:blipFill>
        <p:spPr>
          <a:xfrm>
            <a:off x="6348" y="1718142"/>
            <a:ext cx="8122009" cy="8250565"/>
          </a:xfrm>
          <a:prstGeom prst="rect">
            <a:avLst/>
          </a:prstGeom>
        </p:spPr>
      </p:pic>
      <p:grpSp>
        <p:nvGrpSpPr>
          <p:cNvPr id="4" name="Group 4"/>
          <p:cNvGrpSpPr/>
          <p:nvPr/>
        </p:nvGrpSpPr>
        <p:grpSpPr>
          <a:xfrm>
            <a:off x="7875398" y="4664041"/>
            <a:ext cx="1167120" cy="116712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A695"/>
            </a:solidFill>
          </p:spPr>
          <p:txBody>
            <a:bodyPr/>
            <a:lstStyle/>
            <a:p>
              <a:endParaRPr lang="en-US"/>
            </a:p>
          </p:txBody>
        </p:sp>
        <p:sp>
          <p:nvSpPr>
            <p:cNvPr id="6" name="TextBox 6"/>
            <p:cNvSpPr txBox="1"/>
            <p:nvPr/>
          </p:nvSpPr>
          <p:spPr>
            <a:xfrm>
              <a:off x="76200" y="19050"/>
              <a:ext cx="660400" cy="717550"/>
            </a:xfrm>
            <a:prstGeom prst="rect">
              <a:avLst/>
            </a:prstGeom>
          </p:spPr>
          <p:txBody>
            <a:bodyPr lIns="50800" tIns="50800" rIns="50800" bIns="50800" rtlCol="0" anchor="ctr"/>
            <a:lstStyle/>
            <a:p>
              <a:pPr algn="ctr">
                <a:lnSpc>
                  <a:spcPts val="3640"/>
                </a:lnSpc>
              </a:pPr>
              <a:r>
                <a:rPr lang="en-US" sz="2600" spc="260">
                  <a:solidFill>
                    <a:srgbClr val="FFFFFF"/>
                  </a:solidFill>
                  <a:latin typeface="Archive"/>
                  <a:ea typeface="Archive"/>
                  <a:cs typeface="Archive"/>
                  <a:sym typeface="Archive"/>
                </a:rPr>
                <a:t>20%</a:t>
              </a:r>
            </a:p>
          </p:txBody>
        </p:sp>
      </p:grpSp>
      <p:grpSp>
        <p:nvGrpSpPr>
          <p:cNvPr id="7" name="Group 7"/>
          <p:cNvGrpSpPr/>
          <p:nvPr/>
        </p:nvGrpSpPr>
        <p:grpSpPr>
          <a:xfrm>
            <a:off x="7875398" y="6164536"/>
            <a:ext cx="1167120" cy="116712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640"/>
                </a:lnSpc>
              </a:pPr>
              <a:r>
                <a:rPr lang="en-US" sz="2600" spc="260">
                  <a:solidFill>
                    <a:srgbClr val="FFFFFF"/>
                  </a:solidFill>
                  <a:latin typeface="Archive"/>
                  <a:ea typeface="Archive"/>
                  <a:cs typeface="Archive"/>
                  <a:sym typeface="Archive"/>
                </a:rPr>
                <a:t>90%</a:t>
              </a:r>
            </a:p>
          </p:txBody>
        </p:sp>
      </p:grpSp>
      <p:grpSp>
        <p:nvGrpSpPr>
          <p:cNvPr id="10" name="Group 10"/>
          <p:cNvGrpSpPr/>
          <p:nvPr/>
        </p:nvGrpSpPr>
        <p:grpSpPr>
          <a:xfrm>
            <a:off x="7875398" y="7665030"/>
            <a:ext cx="1167120" cy="116712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0303"/>
            </a:solidFill>
          </p:spPr>
          <p:txBody>
            <a:bodyPr/>
            <a:lstStyle/>
            <a:p>
              <a:endParaRPr lang="en-US"/>
            </a:p>
          </p:txBody>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3640"/>
                </a:lnSpc>
              </a:pPr>
              <a:r>
                <a:rPr lang="en-US" sz="2600" spc="260">
                  <a:solidFill>
                    <a:srgbClr val="FFFFFF"/>
                  </a:solidFill>
                  <a:latin typeface="Archive"/>
                  <a:ea typeface="Archive"/>
                  <a:cs typeface="Archive"/>
                  <a:sym typeface="Archive"/>
                </a:rPr>
                <a:t>15%</a:t>
              </a:r>
            </a:p>
          </p:txBody>
        </p:sp>
      </p:grpSp>
      <p:sp>
        <p:nvSpPr>
          <p:cNvPr id="13" name="TextBox 13"/>
          <p:cNvSpPr txBox="1"/>
          <p:nvPr/>
        </p:nvSpPr>
        <p:spPr>
          <a:xfrm>
            <a:off x="1028700" y="1039979"/>
            <a:ext cx="16510999" cy="1295400"/>
          </a:xfrm>
          <a:prstGeom prst="rect">
            <a:avLst/>
          </a:prstGeom>
        </p:spPr>
        <p:txBody>
          <a:bodyPr lIns="0" tIns="0" rIns="0" bIns="0" rtlCol="0" anchor="t">
            <a:spAutoFit/>
          </a:bodyPr>
          <a:lstStyle/>
          <a:p>
            <a:pPr algn="l">
              <a:lnSpc>
                <a:spcPts val="9900"/>
              </a:lnSpc>
            </a:pPr>
            <a:r>
              <a:rPr lang="en-US" sz="9000">
                <a:solidFill>
                  <a:srgbClr val="000000"/>
                </a:solidFill>
                <a:latin typeface="Archive"/>
                <a:ea typeface="Archive"/>
                <a:cs typeface="Archive"/>
                <a:sym typeface="Archive"/>
              </a:rPr>
              <a:t>TRACTION</a:t>
            </a:r>
          </a:p>
        </p:txBody>
      </p:sp>
      <p:sp>
        <p:nvSpPr>
          <p:cNvPr id="14" name="TextBox 14"/>
          <p:cNvSpPr txBox="1"/>
          <p:nvPr/>
        </p:nvSpPr>
        <p:spPr>
          <a:xfrm>
            <a:off x="7875398" y="2575551"/>
            <a:ext cx="9664301" cy="1637030"/>
          </a:xfrm>
          <a:prstGeom prst="rect">
            <a:avLst/>
          </a:prstGeom>
        </p:spPr>
        <p:txBody>
          <a:bodyPr lIns="0" tIns="0" rIns="0" bIns="0" rtlCol="0" anchor="t">
            <a:spAutoFit/>
          </a:bodyPr>
          <a:lstStyle/>
          <a:p>
            <a:pPr algn="just">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This matrix provides a snapshot of various success metrics for our company, including revenue growth, customer satisfaction, market share, employee retention, innovation, and brand reputation.</a:t>
            </a:r>
          </a:p>
        </p:txBody>
      </p:sp>
      <p:sp>
        <p:nvSpPr>
          <p:cNvPr id="15" name="TextBox 15"/>
          <p:cNvSpPr txBox="1"/>
          <p:nvPr/>
        </p:nvSpPr>
        <p:spPr>
          <a:xfrm>
            <a:off x="9347317" y="4938991"/>
            <a:ext cx="8192382" cy="512445"/>
          </a:xfrm>
          <a:prstGeom prst="rect">
            <a:avLst/>
          </a:prstGeom>
        </p:spPr>
        <p:txBody>
          <a:bodyPr lIns="0" tIns="0" rIns="0" bIns="0" rtlCol="0" anchor="t">
            <a:spAutoFit/>
          </a:bodyPr>
          <a:lstStyle/>
          <a:p>
            <a:pPr algn="l">
              <a:lnSpc>
                <a:spcPts val="3780"/>
              </a:lnSpc>
              <a:spcBef>
                <a:spcPct val="0"/>
              </a:spcBef>
            </a:pPr>
            <a:r>
              <a:rPr lang="en-US" sz="2700" b="1" spc="270">
                <a:solidFill>
                  <a:srgbClr val="000000"/>
                </a:solidFill>
                <a:latin typeface="Gabriel Sans Bold"/>
                <a:ea typeface="Gabriel Sans Bold"/>
                <a:cs typeface="Gabriel Sans Bold"/>
                <a:sym typeface="Gabriel Sans Bold"/>
              </a:rPr>
              <a:t>Annual revenue growth</a:t>
            </a:r>
          </a:p>
        </p:txBody>
      </p:sp>
      <p:sp>
        <p:nvSpPr>
          <p:cNvPr id="16" name="TextBox 16"/>
          <p:cNvSpPr txBox="1"/>
          <p:nvPr/>
        </p:nvSpPr>
        <p:spPr>
          <a:xfrm>
            <a:off x="9347317" y="6439486"/>
            <a:ext cx="8192382" cy="512445"/>
          </a:xfrm>
          <a:prstGeom prst="rect">
            <a:avLst/>
          </a:prstGeom>
        </p:spPr>
        <p:txBody>
          <a:bodyPr lIns="0" tIns="0" rIns="0" bIns="0" rtlCol="0" anchor="t">
            <a:spAutoFit/>
          </a:bodyPr>
          <a:lstStyle/>
          <a:p>
            <a:pPr algn="l">
              <a:lnSpc>
                <a:spcPts val="3780"/>
              </a:lnSpc>
              <a:spcBef>
                <a:spcPct val="0"/>
              </a:spcBef>
            </a:pPr>
            <a:r>
              <a:rPr lang="en-US" sz="2700" b="1" spc="270">
                <a:solidFill>
                  <a:srgbClr val="000000"/>
                </a:solidFill>
                <a:latin typeface="Gabriel Sans Bold"/>
                <a:ea typeface="Gabriel Sans Bold"/>
                <a:cs typeface="Gabriel Sans Bold"/>
                <a:sym typeface="Gabriel Sans Bold"/>
              </a:rPr>
              <a:t>Maintain customer satisfaction ratings</a:t>
            </a:r>
          </a:p>
        </p:txBody>
      </p:sp>
      <p:sp>
        <p:nvSpPr>
          <p:cNvPr id="17" name="Freeform 17"/>
          <p:cNvSpPr/>
          <p:nvPr/>
        </p:nvSpPr>
        <p:spPr>
          <a:xfrm flipH="1">
            <a:off x="13981595" y="7665030"/>
            <a:ext cx="4509094" cy="2863275"/>
          </a:xfrm>
          <a:custGeom>
            <a:avLst/>
            <a:gdLst/>
            <a:ahLst/>
            <a:cxnLst/>
            <a:rect l="l" t="t" r="r" b="b"/>
            <a:pathLst>
              <a:path w="4509094" h="2863275">
                <a:moveTo>
                  <a:pt x="4509094" y="0"/>
                </a:moveTo>
                <a:lnTo>
                  <a:pt x="0" y="0"/>
                </a:lnTo>
                <a:lnTo>
                  <a:pt x="0" y="2863275"/>
                </a:lnTo>
                <a:lnTo>
                  <a:pt x="4509094" y="2863275"/>
                </a:lnTo>
                <a:lnTo>
                  <a:pt x="4509094"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9347317" y="7939980"/>
            <a:ext cx="8192382" cy="512445"/>
          </a:xfrm>
          <a:prstGeom prst="rect">
            <a:avLst/>
          </a:prstGeom>
        </p:spPr>
        <p:txBody>
          <a:bodyPr lIns="0" tIns="0" rIns="0" bIns="0" rtlCol="0" anchor="t">
            <a:spAutoFit/>
          </a:bodyPr>
          <a:lstStyle/>
          <a:p>
            <a:pPr algn="l">
              <a:lnSpc>
                <a:spcPts val="3780"/>
              </a:lnSpc>
              <a:spcBef>
                <a:spcPct val="0"/>
              </a:spcBef>
            </a:pPr>
            <a:r>
              <a:rPr lang="en-US" sz="2700" b="1" spc="270">
                <a:solidFill>
                  <a:srgbClr val="000000"/>
                </a:solidFill>
                <a:latin typeface="Gabriel Sans Bold"/>
                <a:ea typeface="Gabriel Sans Bold"/>
                <a:cs typeface="Gabriel Sans Bold"/>
                <a:sym typeface="Gabriel Sans Bold"/>
              </a:rPr>
              <a:t>Market share in key segments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38054" y="7568525"/>
            <a:ext cx="21561208" cy="4608708"/>
          </a:xfrm>
          <a:custGeom>
            <a:avLst/>
            <a:gdLst/>
            <a:ahLst/>
            <a:cxnLst/>
            <a:rect l="l" t="t" r="r" b="b"/>
            <a:pathLst>
              <a:path w="21561208" h="4608708">
                <a:moveTo>
                  <a:pt x="0" y="0"/>
                </a:moveTo>
                <a:lnTo>
                  <a:pt x="21561208" y="0"/>
                </a:lnTo>
                <a:lnTo>
                  <a:pt x="21561208" y="4608708"/>
                </a:lnTo>
                <a:lnTo>
                  <a:pt x="0" y="46087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3" name="Table 3"/>
          <p:cNvGraphicFramePr>
            <a:graphicFrameLocks noGrp="1"/>
          </p:cNvGraphicFramePr>
          <p:nvPr/>
        </p:nvGraphicFramePr>
        <p:xfrm>
          <a:off x="769379" y="2661761"/>
          <a:ext cx="16749242" cy="6810498"/>
        </p:xfrm>
        <a:graphic>
          <a:graphicData uri="http://schemas.openxmlformats.org/drawingml/2006/table">
            <a:tbl>
              <a:tblPr/>
              <a:tblGrid>
                <a:gridCol w="4187311">
                  <a:extLst>
                    <a:ext uri="{9D8B030D-6E8A-4147-A177-3AD203B41FA5}">
                      <a16:colId xmlns:a16="http://schemas.microsoft.com/office/drawing/2014/main" val="20000"/>
                    </a:ext>
                  </a:extLst>
                </a:gridCol>
                <a:gridCol w="4187311">
                  <a:extLst>
                    <a:ext uri="{9D8B030D-6E8A-4147-A177-3AD203B41FA5}">
                      <a16:colId xmlns:a16="http://schemas.microsoft.com/office/drawing/2014/main" val="20001"/>
                    </a:ext>
                  </a:extLst>
                </a:gridCol>
                <a:gridCol w="4187311">
                  <a:extLst>
                    <a:ext uri="{9D8B030D-6E8A-4147-A177-3AD203B41FA5}">
                      <a16:colId xmlns:a16="http://schemas.microsoft.com/office/drawing/2014/main" val="20002"/>
                    </a:ext>
                  </a:extLst>
                </a:gridCol>
                <a:gridCol w="4187311">
                  <a:extLst>
                    <a:ext uri="{9D8B030D-6E8A-4147-A177-3AD203B41FA5}">
                      <a16:colId xmlns:a16="http://schemas.microsoft.com/office/drawing/2014/main" val="20003"/>
                    </a:ext>
                  </a:extLst>
                </a:gridCol>
              </a:tblGrid>
              <a:tr h="1274014">
                <a:tc>
                  <a:txBody>
                    <a:bodyPr/>
                    <a:lstStyle/>
                    <a:p>
                      <a:pPr algn="ctr">
                        <a:lnSpc>
                          <a:spcPts val="2520"/>
                        </a:lnSpc>
                        <a:defRPr/>
                      </a:pP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C00303"/>
                    </a:solidFill>
                  </a:tcPr>
                </a:tc>
                <a:tc>
                  <a:txBody>
                    <a:bodyPr/>
                    <a:lstStyle/>
                    <a:p>
                      <a:pPr algn="ctr">
                        <a:lnSpc>
                          <a:spcPts val="3779"/>
                        </a:lnSpc>
                        <a:defRPr/>
                      </a:pPr>
                      <a:r>
                        <a:rPr lang="en-US" sz="2699" spc="188">
                          <a:solidFill>
                            <a:srgbClr val="FFFFFF"/>
                          </a:solidFill>
                          <a:latin typeface="Archive"/>
                          <a:ea typeface="Archive"/>
                          <a:cs typeface="Archive"/>
                          <a:sym typeface="Archive"/>
                        </a:rPr>
                        <a:t>BASIC PLAN</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B0A695"/>
                    </a:solidFill>
                  </a:tcPr>
                </a:tc>
                <a:tc>
                  <a:txBody>
                    <a:bodyPr/>
                    <a:lstStyle/>
                    <a:p>
                      <a:pPr algn="ctr">
                        <a:lnSpc>
                          <a:spcPts val="3779"/>
                        </a:lnSpc>
                        <a:defRPr/>
                      </a:pPr>
                      <a:r>
                        <a:rPr lang="en-US" sz="2699" spc="188">
                          <a:solidFill>
                            <a:srgbClr val="FFFFFF"/>
                          </a:solidFill>
                          <a:latin typeface="Archive"/>
                          <a:ea typeface="Archive"/>
                          <a:cs typeface="Archive"/>
                          <a:sym typeface="Archive"/>
                        </a:rPr>
                        <a:t>STANDARD PLAN</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B0A695"/>
                    </a:solidFill>
                  </a:tcPr>
                </a:tc>
                <a:tc>
                  <a:txBody>
                    <a:bodyPr/>
                    <a:lstStyle/>
                    <a:p>
                      <a:pPr algn="ctr">
                        <a:lnSpc>
                          <a:spcPts val="3779"/>
                        </a:lnSpc>
                        <a:defRPr/>
                      </a:pPr>
                      <a:r>
                        <a:rPr lang="en-US" sz="2699" spc="188">
                          <a:solidFill>
                            <a:srgbClr val="FFFFFF"/>
                          </a:solidFill>
                          <a:latin typeface="Archive"/>
                          <a:ea typeface="Archive"/>
                          <a:cs typeface="Archive"/>
                          <a:sym typeface="Archive"/>
                        </a:rPr>
                        <a:t>PREMIUM PLAN</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B0A695"/>
                    </a:solidFill>
                  </a:tcPr>
                </a:tc>
                <a:extLst>
                  <a:ext uri="{0D108BD9-81ED-4DB2-BD59-A6C34878D82A}">
                    <a16:rowId xmlns:a16="http://schemas.microsoft.com/office/drawing/2014/main" val="10000"/>
                  </a:ext>
                </a:extLst>
              </a:tr>
              <a:tr h="1274014">
                <a:tc>
                  <a:txBody>
                    <a:bodyPr/>
                    <a:lstStyle/>
                    <a:p>
                      <a:pPr algn="ctr">
                        <a:lnSpc>
                          <a:spcPts val="3219"/>
                        </a:lnSpc>
                        <a:defRPr/>
                      </a:pPr>
                      <a:r>
                        <a:rPr lang="en-US" sz="2299" spc="114">
                          <a:solidFill>
                            <a:srgbClr val="000000"/>
                          </a:solidFill>
                          <a:latin typeface="Archive"/>
                          <a:ea typeface="Archive"/>
                          <a:cs typeface="Archive"/>
                          <a:sym typeface="Archive"/>
                        </a:rPr>
                        <a:t>PRICING:</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AFAFA"/>
                    </a:solidFill>
                  </a:tcPr>
                </a:tc>
                <a:tc>
                  <a:txBody>
                    <a:bodyPr/>
                    <a:lstStyle/>
                    <a:p>
                      <a:pPr algn="ctr">
                        <a:lnSpc>
                          <a:spcPts val="3299"/>
                        </a:lnSpc>
                        <a:defRPr/>
                      </a:pPr>
                      <a:r>
                        <a:rPr lang="en-US" sz="2199" spc="219">
                          <a:solidFill>
                            <a:srgbClr val="000000"/>
                          </a:solidFill>
                          <a:latin typeface="Arimo"/>
                          <a:ea typeface="Arimo"/>
                          <a:cs typeface="Arimo"/>
                          <a:sym typeface="Arimo"/>
                        </a:rPr>
                        <a:t>135$/ month</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algn="ctr">
                        <a:lnSpc>
                          <a:spcPts val="3299"/>
                        </a:lnSpc>
                        <a:defRPr/>
                      </a:pPr>
                      <a:r>
                        <a:rPr lang="en-US" sz="2199" spc="219">
                          <a:solidFill>
                            <a:srgbClr val="000000"/>
                          </a:solidFill>
                          <a:latin typeface="Arimo"/>
                          <a:ea typeface="Arimo"/>
                          <a:cs typeface="Arimo"/>
                          <a:sym typeface="Arimo"/>
                        </a:rPr>
                        <a:t>175$/ month</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algn="ctr">
                        <a:lnSpc>
                          <a:spcPts val="3299"/>
                        </a:lnSpc>
                        <a:defRPr/>
                      </a:pPr>
                      <a:r>
                        <a:rPr lang="en-US" sz="2199" spc="219">
                          <a:solidFill>
                            <a:srgbClr val="000000"/>
                          </a:solidFill>
                          <a:latin typeface="Arimo"/>
                          <a:ea typeface="Arimo"/>
                          <a:cs typeface="Arimo"/>
                          <a:sym typeface="Arimo"/>
                        </a:rPr>
                        <a:t>220$/ month</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95410">
                <a:tc>
                  <a:txBody>
                    <a:bodyPr/>
                    <a:lstStyle/>
                    <a:p>
                      <a:pPr algn="ctr">
                        <a:lnSpc>
                          <a:spcPts val="3219"/>
                        </a:lnSpc>
                        <a:defRPr/>
                      </a:pPr>
                      <a:r>
                        <a:rPr lang="en-US" sz="2299" spc="114">
                          <a:solidFill>
                            <a:srgbClr val="000000"/>
                          </a:solidFill>
                          <a:latin typeface="Archive"/>
                          <a:ea typeface="Archive"/>
                          <a:cs typeface="Archive"/>
                          <a:sym typeface="Archive"/>
                        </a:rPr>
                        <a:t>FEATURES:</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AFAFA"/>
                    </a:solidFill>
                  </a:tcPr>
                </a:tc>
                <a:tc>
                  <a:txBody>
                    <a:bodyPr/>
                    <a:lstStyle/>
                    <a:p>
                      <a:pPr marL="474978" lvl="1" indent="-237489" algn="ctr">
                        <a:lnSpc>
                          <a:spcPts val="3299"/>
                        </a:lnSpc>
                        <a:buFont typeface="Arial"/>
                        <a:buChar char="•"/>
                        <a:defRPr/>
                      </a:pPr>
                      <a:r>
                        <a:rPr lang="en-US" sz="2199" spc="219">
                          <a:solidFill>
                            <a:srgbClr val="000000"/>
                          </a:solidFill>
                          <a:latin typeface="Arimo"/>
                          <a:ea typeface="Arimo"/>
                          <a:cs typeface="Arimo"/>
                          <a:sym typeface="Arimo"/>
                        </a:rPr>
                        <a:t>Limited features </a:t>
                      </a:r>
                      <a:endParaRPr lang="en-US" sz="1100"/>
                    </a:p>
                    <a:p>
                      <a:pPr marL="474978" lvl="1" indent="-237489" algn="ctr">
                        <a:lnSpc>
                          <a:spcPts val="3299"/>
                        </a:lnSpc>
                        <a:buFont typeface="Arial"/>
                        <a:buChar char="•"/>
                      </a:pPr>
                      <a:r>
                        <a:rPr lang="en-US" sz="2199" spc="219">
                          <a:solidFill>
                            <a:srgbClr val="000000"/>
                          </a:solidFill>
                          <a:latin typeface="Arimo"/>
                          <a:ea typeface="Arimo"/>
                          <a:cs typeface="Arimo"/>
                          <a:sym typeface="Arimo"/>
                        </a:rPr>
                        <a:t>Basic support </a:t>
                      </a:r>
                    </a:p>
                    <a:p>
                      <a:pPr marL="474978" lvl="1" indent="-237489" algn="ctr">
                        <a:lnSpc>
                          <a:spcPts val="3299"/>
                        </a:lnSpc>
                        <a:buFont typeface="Arial"/>
                        <a:buChar char="•"/>
                      </a:pPr>
                      <a:r>
                        <a:rPr lang="en-US" sz="2199" spc="219">
                          <a:solidFill>
                            <a:srgbClr val="000000"/>
                          </a:solidFill>
                          <a:latin typeface="Arimo"/>
                          <a:ea typeface="Arimo"/>
                          <a:cs typeface="Arimo"/>
                          <a:sym typeface="Arimo"/>
                        </a:rPr>
                        <a:t>No customization</a:t>
                      </a:r>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marL="474978" lvl="1" indent="-237489" algn="ctr">
                        <a:lnSpc>
                          <a:spcPts val="3299"/>
                        </a:lnSpc>
                        <a:buFont typeface="Arial"/>
                        <a:buChar char="•"/>
                        <a:defRPr/>
                      </a:pPr>
                      <a:r>
                        <a:rPr lang="en-US" sz="2199" spc="219">
                          <a:solidFill>
                            <a:srgbClr val="000000"/>
                          </a:solidFill>
                          <a:latin typeface="Arimo"/>
                          <a:ea typeface="Arimo"/>
                          <a:cs typeface="Arimo"/>
                          <a:sym typeface="Arimo"/>
                        </a:rPr>
                        <a:t>More features</a:t>
                      </a:r>
                      <a:endParaRPr lang="en-US" sz="1100"/>
                    </a:p>
                    <a:p>
                      <a:pPr marL="474978" lvl="1" indent="-237489" algn="ctr">
                        <a:lnSpc>
                          <a:spcPts val="3299"/>
                        </a:lnSpc>
                        <a:buFont typeface="Arial"/>
                        <a:buChar char="•"/>
                      </a:pPr>
                      <a:r>
                        <a:rPr lang="en-US" sz="2199" spc="219">
                          <a:solidFill>
                            <a:srgbClr val="000000"/>
                          </a:solidFill>
                          <a:latin typeface="Arimo"/>
                          <a:ea typeface="Arimo"/>
                          <a:cs typeface="Arimo"/>
                          <a:sym typeface="Arimo"/>
                        </a:rPr>
                        <a:t>Standard support </a:t>
                      </a:r>
                    </a:p>
                    <a:p>
                      <a:pPr marL="474978" lvl="1" indent="-237489" algn="ctr">
                        <a:lnSpc>
                          <a:spcPts val="3299"/>
                        </a:lnSpc>
                        <a:buFont typeface="Arial"/>
                        <a:buChar char="•"/>
                      </a:pPr>
                      <a:r>
                        <a:rPr lang="en-US" sz="2199" spc="219">
                          <a:solidFill>
                            <a:srgbClr val="000000"/>
                          </a:solidFill>
                          <a:latin typeface="Arimo"/>
                          <a:ea typeface="Arimo"/>
                          <a:cs typeface="Arimo"/>
                          <a:sym typeface="Arimo"/>
                        </a:rPr>
                        <a:t>Some customization</a:t>
                      </a:r>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marL="474978" lvl="1" indent="-237489" algn="ctr">
                        <a:lnSpc>
                          <a:spcPts val="3299"/>
                        </a:lnSpc>
                        <a:buFont typeface="Arial"/>
                        <a:buChar char="•"/>
                        <a:defRPr/>
                      </a:pPr>
                      <a:r>
                        <a:rPr lang="en-US" sz="2199" spc="219">
                          <a:solidFill>
                            <a:srgbClr val="000000"/>
                          </a:solidFill>
                          <a:latin typeface="Arimo"/>
                          <a:ea typeface="Arimo"/>
                          <a:cs typeface="Arimo"/>
                          <a:sym typeface="Arimo"/>
                        </a:rPr>
                        <a:t>Full features</a:t>
                      </a:r>
                      <a:endParaRPr lang="en-US" sz="1100"/>
                    </a:p>
                    <a:p>
                      <a:pPr marL="474978" lvl="1" indent="-237489" algn="ctr">
                        <a:lnSpc>
                          <a:spcPts val="3299"/>
                        </a:lnSpc>
                        <a:buFont typeface="Arial"/>
                        <a:buChar char="•"/>
                      </a:pPr>
                      <a:r>
                        <a:rPr lang="en-US" sz="2199" spc="219">
                          <a:solidFill>
                            <a:srgbClr val="000000"/>
                          </a:solidFill>
                          <a:latin typeface="Arimo"/>
                          <a:ea typeface="Arimo"/>
                          <a:cs typeface="Arimo"/>
                          <a:sym typeface="Arimo"/>
                        </a:rPr>
                        <a:t>Priority support </a:t>
                      </a:r>
                    </a:p>
                    <a:p>
                      <a:pPr marL="474978" lvl="1" indent="-237489" algn="ctr">
                        <a:lnSpc>
                          <a:spcPts val="3299"/>
                        </a:lnSpc>
                        <a:buFont typeface="Arial"/>
                        <a:buChar char="•"/>
                      </a:pPr>
                      <a:r>
                        <a:rPr lang="en-US" sz="2199" spc="219">
                          <a:solidFill>
                            <a:srgbClr val="000000"/>
                          </a:solidFill>
                          <a:latin typeface="Arimo"/>
                          <a:ea typeface="Arimo"/>
                          <a:cs typeface="Arimo"/>
                          <a:sym typeface="Arimo"/>
                        </a:rPr>
                        <a:t>Full customization</a:t>
                      </a:r>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83530">
                <a:tc>
                  <a:txBody>
                    <a:bodyPr/>
                    <a:lstStyle/>
                    <a:p>
                      <a:pPr algn="ctr">
                        <a:lnSpc>
                          <a:spcPts val="3219"/>
                        </a:lnSpc>
                        <a:defRPr/>
                      </a:pPr>
                      <a:r>
                        <a:rPr lang="en-US" sz="2299" spc="114">
                          <a:solidFill>
                            <a:srgbClr val="000000"/>
                          </a:solidFill>
                          <a:latin typeface="Archive"/>
                          <a:ea typeface="Archive"/>
                          <a:cs typeface="Archive"/>
                          <a:sym typeface="Archive"/>
                        </a:rPr>
                        <a:t>USAGE LIMITS:</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AFAFA"/>
                    </a:solidFill>
                  </a:tcPr>
                </a:tc>
                <a:tc>
                  <a:txBody>
                    <a:bodyPr/>
                    <a:lstStyle/>
                    <a:p>
                      <a:pPr marL="474978" lvl="1" indent="-237489" algn="ctr">
                        <a:lnSpc>
                          <a:spcPts val="3299"/>
                        </a:lnSpc>
                        <a:buFont typeface="Arial"/>
                        <a:buChar char="•"/>
                        <a:defRPr/>
                      </a:pPr>
                      <a:r>
                        <a:rPr lang="en-US" sz="2199" spc="219">
                          <a:solidFill>
                            <a:srgbClr val="000000"/>
                          </a:solidFill>
                          <a:latin typeface="Arimo"/>
                          <a:ea typeface="Arimo"/>
                          <a:cs typeface="Arimo"/>
                          <a:sym typeface="Arimo"/>
                        </a:rPr>
                        <a:t>Limited usage</a:t>
                      </a:r>
                      <a:endParaRPr lang="en-US" sz="1100"/>
                    </a:p>
                    <a:p>
                      <a:pPr marL="474978" lvl="1" indent="-237489" algn="ctr">
                        <a:lnSpc>
                          <a:spcPts val="3299"/>
                        </a:lnSpc>
                        <a:buFont typeface="Arial"/>
                        <a:buChar char="•"/>
                      </a:pPr>
                      <a:r>
                        <a:rPr lang="en-US" sz="2199" spc="219">
                          <a:solidFill>
                            <a:srgbClr val="000000"/>
                          </a:solidFill>
                          <a:latin typeface="Arimo"/>
                          <a:ea typeface="Arimo"/>
                          <a:cs typeface="Arimo"/>
                          <a:sym typeface="Arimo"/>
                        </a:rPr>
                        <a:t>Limited storage</a:t>
                      </a:r>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marL="474978" lvl="1" indent="-237489" algn="ctr">
                        <a:lnSpc>
                          <a:spcPts val="3299"/>
                        </a:lnSpc>
                        <a:buFont typeface="Arial"/>
                        <a:buChar char="•"/>
                        <a:defRPr/>
                      </a:pPr>
                      <a:r>
                        <a:rPr lang="en-US" sz="2199" spc="219">
                          <a:solidFill>
                            <a:srgbClr val="000000"/>
                          </a:solidFill>
                          <a:latin typeface="Arimo"/>
                          <a:ea typeface="Arimo"/>
                          <a:cs typeface="Arimo"/>
                          <a:sym typeface="Arimo"/>
                        </a:rPr>
                        <a:t>Increased usage</a:t>
                      </a:r>
                      <a:endParaRPr lang="en-US" sz="1100"/>
                    </a:p>
                    <a:p>
                      <a:pPr marL="474978" lvl="1" indent="-237489" algn="ctr">
                        <a:lnSpc>
                          <a:spcPts val="3299"/>
                        </a:lnSpc>
                        <a:buFont typeface="Arial"/>
                        <a:buChar char="•"/>
                      </a:pPr>
                      <a:r>
                        <a:rPr lang="en-US" sz="2199" spc="219">
                          <a:solidFill>
                            <a:srgbClr val="000000"/>
                          </a:solidFill>
                          <a:latin typeface="Arimo"/>
                          <a:ea typeface="Arimo"/>
                          <a:cs typeface="Arimo"/>
                          <a:sym typeface="Arimo"/>
                        </a:rPr>
                        <a:t>More storage</a:t>
                      </a:r>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marL="474978" lvl="1" indent="-237489" algn="ctr">
                        <a:lnSpc>
                          <a:spcPts val="3299"/>
                        </a:lnSpc>
                        <a:buFont typeface="Arial"/>
                        <a:buChar char="•"/>
                        <a:defRPr/>
                      </a:pPr>
                      <a:r>
                        <a:rPr lang="en-US" sz="2199" spc="219">
                          <a:solidFill>
                            <a:srgbClr val="000000"/>
                          </a:solidFill>
                          <a:latin typeface="Arimo"/>
                          <a:ea typeface="Arimo"/>
                          <a:cs typeface="Arimo"/>
                          <a:sym typeface="Arimo"/>
                        </a:rPr>
                        <a:t>Unlimited usage</a:t>
                      </a:r>
                      <a:endParaRPr lang="en-US" sz="1100"/>
                    </a:p>
                    <a:p>
                      <a:pPr marL="474978" lvl="1" indent="-237489" algn="ctr">
                        <a:lnSpc>
                          <a:spcPts val="3299"/>
                        </a:lnSpc>
                        <a:buFont typeface="Arial"/>
                        <a:buChar char="•"/>
                      </a:pPr>
                      <a:r>
                        <a:rPr lang="en-US" sz="2199" spc="219">
                          <a:solidFill>
                            <a:srgbClr val="000000"/>
                          </a:solidFill>
                          <a:latin typeface="Arimo"/>
                          <a:ea typeface="Arimo"/>
                          <a:cs typeface="Arimo"/>
                          <a:sym typeface="Arimo"/>
                        </a:rPr>
                        <a:t>Unlimited storage</a:t>
                      </a:r>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283530">
                <a:tc>
                  <a:txBody>
                    <a:bodyPr/>
                    <a:lstStyle/>
                    <a:p>
                      <a:pPr algn="ctr">
                        <a:lnSpc>
                          <a:spcPts val="3219"/>
                        </a:lnSpc>
                        <a:defRPr/>
                      </a:pPr>
                      <a:r>
                        <a:rPr lang="en-US" sz="2299" spc="114">
                          <a:solidFill>
                            <a:srgbClr val="000000"/>
                          </a:solidFill>
                          <a:latin typeface="Archive"/>
                          <a:ea typeface="Archive"/>
                          <a:cs typeface="Archive"/>
                          <a:sym typeface="Archive"/>
                        </a:rPr>
                        <a:t>ADDITIONAL SERVICES:</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AFAFA"/>
                    </a:solidFill>
                  </a:tcPr>
                </a:tc>
                <a:tc>
                  <a:txBody>
                    <a:bodyPr/>
                    <a:lstStyle/>
                    <a:p>
                      <a:pPr algn="ctr">
                        <a:lnSpc>
                          <a:spcPts val="3299"/>
                        </a:lnSpc>
                        <a:defRPr/>
                      </a:pPr>
                      <a:r>
                        <a:rPr lang="en-US" sz="2199" spc="219">
                          <a:solidFill>
                            <a:srgbClr val="000000"/>
                          </a:solidFill>
                          <a:latin typeface="Arimo"/>
                          <a:ea typeface="Arimo"/>
                          <a:cs typeface="Arimo"/>
                          <a:sym typeface="Arimo"/>
                        </a:rPr>
                        <a:t>No additional services included</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algn="ctr">
                        <a:lnSpc>
                          <a:spcPts val="3299"/>
                        </a:lnSpc>
                        <a:defRPr/>
                      </a:pPr>
                      <a:r>
                        <a:rPr lang="en-US" sz="2199" spc="219">
                          <a:solidFill>
                            <a:srgbClr val="000000"/>
                          </a:solidFill>
                          <a:latin typeface="Arimo"/>
                          <a:ea typeface="Arimo"/>
                          <a:cs typeface="Arimo"/>
                          <a:sym typeface="Arimo"/>
                        </a:rPr>
                        <a:t>Optional add-ons available for purchase</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tc>
                  <a:txBody>
                    <a:bodyPr/>
                    <a:lstStyle/>
                    <a:p>
                      <a:pPr algn="ctr">
                        <a:lnSpc>
                          <a:spcPts val="3299"/>
                        </a:lnSpc>
                        <a:defRPr/>
                      </a:pPr>
                      <a:r>
                        <a:rPr lang="en-US" sz="2199" spc="219">
                          <a:solidFill>
                            <a:srgbClr val="000000"/>
                          </a:solidFill>
                          <a:latin typeface="Arimo"/>
                          <a:ea typeface="Arimo"/>
                          <a:cs typeface="Arimo"/>
                          <a:sym typeface="Arimo"/>
                        </a:rPr>
                        <a:t>Premium support and consulting included</a:t>
                      </a:r>
                      <a:endParaRPr lang="en-US" sz="1100"/>
                    </a:p>
                  </a:txBody>
                  <a:tcPr marL="190500" marR="190500" marT="190500" marB="190500" anchor="ctr">
                    <a:lnL w="38100" cap="flat" cmpd="sng" algn="ctr">
                      <a:solidFill>
                        <a:srgbClr val="C00303"/>
                      </a:solidFill>
                      <a:prstDash val="solid"/>
                      <a:round/>
                      <a:headEnd type="none" w="med" len="med"/>
                      <a:tailEnd type="none" w="med" len="med"/>
                    </a:lnL>
                    <a:lnR w="38100" cap="flat" cmpd="sng" algn="ctr">
                      <a:solidFill>
                        <a:srgbClr val="C00303"/>
                      </a:solidFill>
                      <a:prstDash val="solid"/>
                      <a:round/>
                      <a:headEnd type="none" w="med" len="med"/>
                      <a:tailEnd type="none" w="med" len="med"/>
                    </a:lnR>
                    <a:lnT w="38100" cap="flat" cmpd="sng" algn="ctr">
                      <a:solidFill>
                        <a:srgbClr val="C00303"/>
                      </a:solidFill>
                      <a:prstDash val="solid"/>
                      <a:round/>
                      <a:headEnd type="none" w="med" len="med"/>
                      <a:tailEnd type="none" w="med" len="med"/>
                    </a:lnT>
                    <a:lnB w="38100" cap="flat" cmpd="sng" algn="ctr">
                      <a:solidFill>
                        <a:srgbClr val="C0030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Box 4"/>
          <p:cNvSpPr txBox="1"/>
          <p:nvPr/>
        </p:nvSpPr>
        <p:spPr>
          <a:xfrm>
            <a:off x="1028700" y="1095375"/>
            <a:ext cx="16230600" cy="1149353"/>
          </a:xfrm>
          <a:prstGeom prst="rect">
            <a:avLst/>
          </a:prstGeom>
        </p:spPr>
        <p:txBody>
          <a:bodyPr lIns="0" tIns="0" rIns="0" bIns="0" rtlCol="0" anchor="t">
            <a:spAutoFit/>
          </a:bodyPr>
          <a:lstStyle/>
          <a:p>
            <a:pPr algn="ctr">
              <a:lnSpc>
                <a:spcPts val="8800"/>
              </a:lnSpc>
            </a:pPr>
            <a:r>
              <a:rPr lang="en-US" sz="8000">
                <a:solidFill>
                  <a:srgbClr val="000000"/>
                </a:solidFill>
                <a:latin typeface="Archive"/>
                <a:ea typeface="Archive"/>
                <a:cs typeface="Archive"/>
                <a:sym typeface="Archive"/>
              </a:rPr>
              <a:t>REVENUE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64881" y="8497346"/>
            <a:ext cx="21561208" cy="4608708"/>
          </a:xfrm>
          <a:custGeom>
            <a:avLst/>
            <a:gdLst/>
            <a:ahLst/>
            <a:cxnLst/>
            <a:rect l="l" t="t" r="r" b="b"/>
            <a:pathLst>
              <a:path w="21561208" h="4608708">
                <a:moveTo>
                  <a:pt x="0" y="0"/>
                </a:moveTo>
                <a:lnTo>
                  <a:pt x="21561208" y="0"/>
                </a:lnTo>
                <a:lnTo>
                  <a:pt x="21561208" y="4608708"/>
                </a:lnTo>
                <a:lnTo>
                  <a:pt x="0" y="46087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flipV="1">
            <a:off x="0" y="3253381"/>
            <a:ext cx="2526108" cy="0"/>
          </a:xfrm>
          <a:prstGeom prst="line">
            <a:avLst/>
          </a:prstGeom>
          <a:ln w="47625" cap="flat">
            <a:solidFill>
              <a:srgbClr val="C00303"/>
            </a:solidFill>
            <a:prstDash val="solid"/>
            <a:headEnd type="none" w="sm" len="sm"/>
            <a:tailEnd type="none" w="sm" len="sm"/>
          </a:ln>
        </p:spPr>
        <p:txBody>
          <a:bodyPr/>
          <a:lstStyle/>
          <a:p>
            <a:endParaRPr lang="en-US"/>
          </a:p>
        </p:txBody>
      </p:sp>
      <p:sp>
        <p:nvSpPr>
          <p:cNvPr id="4" name="AutoShape 4"/>
          <p:cNvSpPr/>
          <p:nvPr/>
        </p:nvSpPr>
        <p:spPr>
          <a:xfrm>
            <a:off x="3408672" y="3253381"/>
            <a:ext cx="2978008" cy="0"/>
          </a:xfrm>
          <a:prstGeom prst="line">
            <a:avLst/>
          </a:prstGeom>
          <a:ln w="47625" cap="flat">
            <a:solidFill>
              <a:srgbClr val="C00303"/>
            </a:solidFill>
            <a:prstDash val="solid"/>
            <a:headEnd type="none" w="sm" len="sm"/>
            <a:tailEnd type="none" w="sm" len="sm"/>
          </a:ln>
        </p:spPr>
        <p:txBody>
          <a:bodyPr/>
          <a:lstStyle/>
          <a:p>
            <a:endParaRPr lang="en-US"/>
          </a:p>
        </p:txBody>
      </p:sp>
      <p:sp>
        <p:nvSpPr>
          <p:cNvPr id="5" name="AutoShape 5"/>
          <p:cNvSpPr/>
          <p:nvPr/>
        </p:nvSpPr>
        <p:spPr>
          <a:xfrm>
            <a:off x="7654996" y="3253381"/>
            <a:ext cx="2978008" cy="0"/>
          </a:xfrm>
          <a:prstGeom prst="line">
            <a:avLst/>
          </a:prstGeom>
          <a:ln w="47625" cap="flat">
            <a:solidFill>
              <a:srgbClr val="C00303"/>
            </a:solidFill>
            <a:prstDash val="solid"/>
            <a:headEnd type="none" w="sm" len="sm"/>
            <a:tailEnd type="none" w="sm" len="sm"/>
          </a:ln>
        </p:spPr>
        <p:txBody>
          <a:bodyPr/>
          <a:lstStyle/>
          <a:p>
            <a:endParaRPr lang="en-US"/>
          </a:p>
        </p:txBody>
      </p:sp>
      <p:sp>
        <p:nvSpPr>
          <p:cNvPr id="6" name="AutoShape 6"/>
          <p:cNvSpPr/>
          <p:nvPr/>
        </p:nvSpPr>
        <p:spPr>
          <a:xfrm>
            <a:off x="11680441" y="3253381"/>
            <a:ext cx="2978008" cy="0"/>
          </a:xfrm>
          <a:prstGeom prst="line">
            <a:avLst/>
          </a:prstGeom>
          <a:ln w="47625" cap="flat">
            <a:solidFill>
              <a:srgbClr val="C00303"/>
            </a:solidFill>
            <a:prstDash val="solid"/>
            <a:headEnd type="none" w="sm" len="sm"/>
            <a:tailEnd type="none" w="sm" len="sm"/>
          </a:ln>
        </p:spPr>
        <p:txBody>
          <a:bodyPr/>
          <a:lstStyle/>
          <a:p>
            <a:endParaRPr lang="en-US"/>
          </a:p>
        </p:txBody>
      </p:sp>
      <p:sp>
        <p:nvSpPr>
          <p:cNvPr id="7" name="AutoShape 7"/>
          <p:cNvSpPr/>
          <p:nvPr/>
        </p:nvSpPr>
        <p:spPr>
          <a:xfrm>
            <a:off x="15770296" y="3253381"/>
            <a:ext cx="2517704" cy="0"/>
          </a:xfrm>
          <a:prstGeom prst="line">
            <a:avLst/>
          </a:prstGeom>
          <a:ln w="47625" cap="flat">
            <a:solidFill>
              <a:srgbClr val="C00303"/>
            </a:solidFill>
            <a:prstDash val="solid"/>
            <a:headEnd type="none" w="sm" len="sm"/>
            <a:tailEnd type="none" w="sm" len="sm"/>
          </a:ln>
        </p:spPr>
        <p:txBody>
          <a:bodyPr/>
          <a:lstStyle/>
          <a:p>
            <a:endParaRPr lang="en-US"/>
          </a:p>
        </p:txBody>
      </p:sp>
      <p:sp>
        <p:nvSpPr>
          <p:cNvPr id="8" name="Freeform 8"/>
          <p:cNvSpPr/>
          <p:nvPr/>
        </p:nvSpPr>
        <p:spPr>
          <a:xfrm>
            <a:off x="2250796" y="2540191"/>
            <a:ext cx="1378754" cy="1378754"/>
          </a:xfrm>
          <a:custGeom>
            <a:avLst/>
            <a:gdLst/>
            <a:ahLst/>
            <a:cxnLst/>
            <a:rect l="l" t="t" r="r" b="b"/>
            <a:pathLst>
              <a:path w="1378754" h="1378754">
                <a:moveTo>
                  <a:pt x="0" y="0"/>
                </a:moveTo>
                <a:lnTo>
                  <a:pt x="1378755" y="0"/>
                </a:lnTo>
                <a:lnTo>
                  <a:pt x="1378755" y="1378755"/>
                </a:lnTo>
                <a:lnTo>
                  <a:pt x="0" y="13787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6386681" y="2540191"/>
            <a:ext cx="1378754" cy="1378754"/>
          </a:xfrm>
          <a:custGeom>
            <a:avLst/>
            <a:gdLst/>
            <a:ahLst/>
            <a:cxnLst/>
            <a:rect l="l" t="t" r="r" b="b"/>
            <a:pathLst>
              <a:path w="1378754" h="1378754">
                <a:moveTo>
                  <a:pt x="0" y="0"/>
                </a:moveTo>
                <a:lnTo>
                  <a:pt x="1378754" y="0"/>
                </a:lnTo>
                <a:lnTo>
                  <a:pt x="1378754" y="1378755"/>
                </a:lnTo>
                <a:lnTo>
                  <a:pt x="0" y="13787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0522565" y="2540191"/>
            <a:ext cx="1378754" cy="1378754"/>
          </a:xfrm>
          <a:custGeom>
            <a:avLst/>
            <a:gdLst/>
            <a:ahLst/>
            <a:cxnLst/>
            <a:rect l="l" t="t" r="r" b="b"/>
            <a:pathLst>
              <a:path w="1378754" h="1378754">
                <a:moveTo>
                  <a:pt x="0" y="0"/>
                </a:moveTo>
                <a:lnTo>
                  <a:pt x="1378754" y="0"/>
                </a:lnTo>
                <a:lnTo>
                  <a:pt x="1378754" y="1378755"/>
                </a:lnTo>
                <a:lnTo>
                  <a:pt x="0" y="13787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4658449" y="2540191"/>
            <a:ext cx="1378754" cy="1378754"/>
          </a:xfrm>
          <a:custGeom>
            <a:avLst/>
            <a:gdLst/>
            <a:ahLst/>
            <a:cxnLst/>
            <a:rect l="l" t="t" r="r" b="b"/>
            <a:pathLst>
              <a:path w="1378754" h="1378754">
                <a:moveTo>
                  <a:pt x="0" y="0"/>
                </a:moveTo>
                <a:lnTo>
                  <a:pt x="1378755" y="0"/>
                </a:lnTo>
                <a:lnTo>
                  <a:pt x="1378755" y="1378755"/>
                </a:lnTo>
                <a:lnTo>
                  <a:pt x="0" y="13787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p:cNvSpPr txBox="1"/>
          <p:nvPr/>
        </p:nvSpPr>
        <p:spPr>
          <a:xfrm>
            <a:off x="1208620" y="4207088"/>
            <a:ext cx="3463106" cy="588010"/>
          </a:xfrm>
          <a:prstGeom prst="rect">
            <a:avLst/>
          </a:prstGeom>
        </p:spPr>
        <p:txBody>
          <a:bodyPr lIns="0" tIns="0" rIns="0" bIns="0" rtlCol="0" anchor="t">
            <a:spAutoFit/>
          </a:bodyPr>
          <a:lstStyle/>
          <a:p>
            <a:pPr algn="ctr">
              <a:lnSpc>
                <a:spcPts val="4339"/>
              </a:lnSpc>
              <a:spcBef>
                <a:spcPct val="0"/>
              </a:spcBef>
            </a:pPr>
            <a:r>
              <a:rPr lang="en-US" sz="3099" b="1" spc="309">
                <a:solidFill>
                  <a:srgbClr val="000000"/>
                </a:solidFill>
                <a:latin typeface="Gabriel Sans Bold"/>
                <a:ea typeface="Gabriel Sans Bold"/>
                <a:cs typeface="Gabriel Sans Bold"/>
                <a:sym typeface="Gabriel Sans Bold"/>
              </a:rPr>
              <a:t>2021</a:t>
            </a:r>
          </a:p>
        </p:txBody>
      </p:sp>
      <p:sp>
        <p:nvSpPr>
          <p:cNvPr id="13" name="TextBox 13"/>
          <p:cNvSpPr txBox="1"/>
          <p:nvPr/>
        </p:nvSpPr>
        <p:spPr>
          <a:xfrm>
            <a:off x="5344505" y="4207088"/>
            <a:ext cx="3463106" cy="588010"/>
          </a:xfrm>
          <a:prstGeom prst="rect">
            <a:avLst/>
          </a:prstGeom>
        </p:spPr>
        <p:txBody>
          <a:bodyPr lIns="0" tIns="0" rIns="0" bIns="0" rtlCol="0" anchor="t">
            <a:spAutoFit/>
          </a:bodyPr>
          <a:lstStyle/>
          <a:p>
            <a:pPr algn="ctr">
              <a:lnSpc>
                <a:spcPts val="4339"/>
              </a:lnSpc>
              <a:spcBef>
                <a:spcPct val="0"/>
              </a:spcBef>
            </a:pPr>
            <a:r>
              <a:rPr lang="en-US" sz="3099" b="1" spc="309">
                <a:solidFill>
                  <a:srgbClr val="000000"/>
                </a:solidFill>
                <a:latin typeface="Gabriel Sans Bold"/>
                <a:ea typeface="Gabriel Sans Bold"/>
                <a:cs typeface="Gabriel Sans Bold"/>
                <a:sym typeface="Gabriel Sans Bold"/>
              </a:rPr>
              <a:t>2023</a:t>
            </a:r>
          </a:p>
        </p:txBody>
      </p:sp>
      <p:sp>
        <p:nvSpPr>
          <p:cNvPr id="14" name="TextBox 14"/>
          <p:cNvSpPr txBox="1"/>
          <p:nvPr/>
        </p:nvSpPr>
        <p:spPr>
          <a:xfrm>
            <a:off x="1208620" y="4845898"/>
            <a:ext cx="3463106" cy="323723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In our first year, we successfully launched a new product/service, received positive feedback from early users, and formed partnerships with key industry players.</a:t>
            </a:r>
          </a:p>
        </p:txBody>
      </p:sp>
      <p:sp>
        <p:nvSpPr>
          <p:cNvPr id="15" name="TextBox 15"/>
          <p:cNvSpPr txBox="1"/>
          <p:nvPr/>
        </p:nvSpPr>
        <p:spPr>
          <a:xfrm>
            <a:off x="5344505" y="4845898"/>
            <a:ext cx="3463106" cy="203708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We expanded into new markets, improved operational efficiency, and saw an increase in customer satisfaction.</a:t>
            </a:r>
          </a:p>
        </p:txBody>
      </p:sp>
      <p:sp>
        <p:nvSpPr>
          <p:cNvPr id="16" name="TextBox 16"/>
          <p:cNvSpPr txBox="1"/>
          <p:nvPr/>
        </p:nvSpPr>
        <p:spPr>
          <a:xfrm>
            <a:off x="9480389" y="4207088"/>
            <a:ext cx="3463106" cy="588010"/>
          </a:xfrm>
          <a:prstGeom prst="rect">
            <a:avLst/>
          </a:prstGeom>
        </p:spPr>
        <p:txBody>
          <a:bodyPr lIns="0" tIns="0" rIns="0" bIns="0" rtlCol="0" anchor="t">
            <a:spAutoFit/>
          </a:bodyPr>
          <a:lstStyle/>
          <a:p>
            <a:pPr algn="ctr">
              <a:lnSpc>
                <a:spcPts val="4339"/>
              </a:lnSpc>
              <a:spcBef>
                <a:spcPct val="0"/>
              </a:spcBef>
            </a:pPr>
            <a:r>
              <a:rPr lang="en-US" sz="3099" b="1" spc="309">
                <a:solidFill>
                  <a:srgbClr val="000000"/>
                </a:solidFill>
                <a:latin typeface="Gabriel Sans Bold"/>
                <a:ea typeface="Gabriel Sans Bold"/>
                <a:cs typeface="Gabriel Sans Bold"/>
                <a:sym typeface="Gabriel Sans Bold"/>
              </a:rPr>
              <a:t>2025</a:t>
            </a:r>
          </a:p>
        </p:txBody>
      </p:sp>
      <p:sp>
        <p:nvSpPr>
          <p:cNvPr id="17" name="TextBox 17"/>
          <p:cNvSpPr txBox="1"/>
          <p:nvPr/>
        </p:nvSpPr>
        <p:spPr>
          <a:xfrm>
            <a:off x="9480389" y="4845898"/>
            <a:ext cx="3463106" cy="243713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We secured funding for growth, refined our offerings based on customer feedback, and formed strategic partnerships.</a:t>
            </a:r>
          </a:p>
        </p:txBody>
      </p:sp>
      <p:sp>
        <p:nvSpPr>
          <p:cNvPr id="18" name="TextBox 18"/>
          <p:cNvSpPr txBox="1"/>
          <p:nvPr/>
        </p:nvSpPr>
        <p:spPr>
          <a:xfrm>
            <a:off x="13616274" y="4207088"/>
            <a:ext cx="3463106" cy="588010"/>
          </a:xfrm>
          <a:prstGeom prst="rect">
            <a:avLst/>
          </a:prstGeom>
        </p:spPr>
        <p:txBody>
          <a:bodyPr lIns="0" tIns="0" rIns="0" bIns="0" rtlCol="0" anchor="t">
            <a:spAutoFit/>
          </a:bodyPr>
          <a:lstStyle/>
          <a:p>
            <a:pPr algn="ctr">
              <a:lnSpc>
                <a:spcPts val="4339"/>
              </a:lnSpc>
              <a:spcBef>
                <a:spcPct val="0"/>
              </a:spcBef>
            </a:pPr>
            <a:r>
              <a:rPr lang="en-US" sz="3099" b="1" spc="309">
                <a:solidFill>
                  <a:srgbClr val="000000"/>
                </a:solidFill>
                <a:latin typeface="Gabriel Sans Bold"/>
                <a:ea typeface="Gabriel Sans Bold"/>
                <a:cs typeface="Gabriel Sans Bold"/>
                <a:sym typeface="Gabriel Sans Bold"/>
              </a:rPr>
              <a:t>Present</a:t>
            </a:r>
          </a:p>
        </p:txBody>
      </p:sp>
      <p:sp>
        <p:nvSpPr>
          <p:cNvPr id="19" name="TextBox 19"/>
          <p:cNvSpPr txBox="1"/>
          <p:nvPr/>
        </p:nvSpPr>
        <p:spPr>
          <a:xfrm>
            <a:off x="13616274" y="4845898"/>
            <a:ext cx="3463106" cy="3237230"/>
          </a:xfrm>
          <a:prstGeom prst="rect">
            <a:avLst/>
          </a:prstGeom>
        </p:spPr>
        <p:txBody>
          <a:bodyPr lIns="0" tIns="0" rIns="0" bIns="0" rtlCol="0" anchor="t">
            <a:spAutoFit/>
          </a:bodyPr>
          <a:lstStyle/>
          <a:p>
            <a:pPr algn="ctr">
              <a:lnSpc>
                <a:spcPts val="3220"/>
              </a:lnSpc>
              <a:spcBef>
                <a:spcPct val="0"/>
              </a:spcBef>
            </a:pPr>
            <a:r>
              <a:rPr lang="en-US" sz="2300" spc="230">
                <a:solidFill>
                  <a:srgbClr val="000000"/>
                </a:solidFill>
                <a:latin typeface="Gabriel Sans Condensed"/>
                <a:ea typeface="Gabriel Sans Condensed"/>
                <a:cs typeface="Gabriel Sans Condensed"/>
                <a:sym typeface="Gabriel Sans Condensed"/>
              </a:rPr>
              <a:t>In our first year, we successfully launched a new product/service, received positive feedback from early users, and formed partnerships with key industry players.</a:t>
            </a:r>
          </a:p>
        </p:txBody>
      </p:sp>
      <p:sp>
        <p:nvSpPr>
          <p:cNvPr id="20" name="TextBox 20"/>
          <p:cNvSpPr txBox="1"/>
          <p:nvPr/>
        </p:nvSpPr>
        <p:spPr>
          <a:xfrm>
            <a:off x="1028700" y="891884"/>
            <a:ext cx="16230600" cy="1295400"/>
          </a:xfrm>
          <a:prstGeom prst="rect">
            <a:avLst/>
          </a:prstGeom>
        </p:spPr>
        <p:txBody>
          <a:bodyPr lIns="0" tIns="0" rIns="0" bIns="0" rtlCol="0" anchor="t">
            <a:spAutoFit/>
          </a:bodyPr>
          <a:lstStyle/>
          <a:p>
            <a:pPr algn="ctr">
              <a:lnSpc>
                <a:spcPts val="9900"/>
              </a:lnSpc>
            </a:pPr>
            <a:r>
              <a:rPr lang="en-US" sz="9000">
                <a:solidFill>
                  <a:srgbClr val="000000"/>
                </a:solidFill>
                <a:latin typeface="Archive"/>
                <a:ea typeface="Archive"/>
                <a:cs typeface="Archive"/>
                <a:sym typeface="Archive"/>
              </a:rPr>
              <a:t>ACCOMPLISHMENTS DATE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6017537"/>
            <a:ext cx="4741277" cy="4604966"/>
          </a:xfrm>
          <a:custGeom>
            <a:avLst/>
            <a:gdLst/>
            <a:ahLst/>
            <a:cxnLst/>
            <a:rect l="l" t="t" r="r" b="b"/>
            <a:pathLst>
              <a:path w="4741277" h="4604966">
                <a:moveTo>
                  <a:pt x="4741277" y="0"/>
                </a:moveTo>
                <a:lnTo>
                  <a:pt x="0" y="0"/>
                </a:lnTo>
                <a:lnTo>
                  <a:pt x="0" y="4604965"/>
                </a:lnTo>
                <a:lnTo>
                  <a:pt x="4741277" y="4604965"/>
                </a:lnTo>
                <a:lnTo>
                  <a:pt x="474127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890889" y="4993286"/>
            <a:ext cx="6174380" cy="876731"/>
            <a:chOff x="0" y="0"/>
            <a:chExt cx="1738971" cy="246925"/>
          </a:xfrm>
        </p:grpSpPr>
        <p:sp>
          <p:nvSpPr>
            <p:cNvPr id="4" name="Freeform 4"/>
            <p:cNvSpPr/>
            <p:nvPr/>
          </p:nvSpPr>
          <p:spPr>
            <a:xfrm>
              <a:off x="0" y="0"/>
              <a:ext cx="1738971" cy="246925"/>
            </a:xfrm>
            <a:custGeom>
              <a:avLst/>
              <a:gdLst/>
              <a:ahLst/>
              <a:cxnLst/>
              <a:rect l="l" t="t" r="r" b="b"/>
              <a:pathLst>
                <a:path w="1738971" h="246925">
                  <a:moveTo>
                    <a:pt x="0" y="0"/>
                  </a:moveTo>
                  <a:lnTo>
                    <a:pt x="1738971" y="0"/>
                  </a:lnTo>
                  <a:lnTo>
                    <a:pt x="1738971" y="246925"/>
                  </a:lnTo>
                  <a:lnTo>
                    <a:pt x="0" y="246925"/>
                  </a:lnTo>
                  <a:close/>
                </a:path>
              </a:pathLst>
            </a:custGeom>
            <a:solidFill>
              <a:srgbClr val="C00303"/>
            </a:solidFill>
          </p:spPr>
          <p:txBody>
            <a:bodyPr/>
            <a:lstStyle/>
            <a:p>
              <a:endParaRPr lang="en-US"/>
            </a:p>
          </p:txBody>
        </p:sp>
        <p:sp>
          <p:nvSpPr>
            <p:cNvPr id="5" name="TextBox 5"/>
            <p:cNvSpPr txBox="1"/>
            <p:nvPr/>
          </p:nvSpPr>
          <p:spPr>
            <a:xfrm>
              <a:off x="0" y="-66675"/>
              <a:ext cx="1738971"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Product Development</a:t>
              </a:r>
            </a:p>
          </p:txBody>
        </p:sp>
      </p:grpSp>
      <p:grpSp>
        <p:nvGrpSpPr>
          <p:cNvPr id="6" name="Group 6"/>
          <p:cNvGrpSpPr/>
          <p:nvPr/>
        </p:nvGrpSpPr>
        <p:grpSpPr>
          <a:xfrm>
            <a:off x="8183832" y="4993286"/>
            <a:ext cx="1294087" cy="876731"/>
            <a:chOff x="0" y="0"/>
            <a:chExt cx="364471" cy="246925"/>
          </a:xfrm>
        </p:grpSpPr>
        <p:sp>
          <p:nvSpPr>
            <p:cNvPr id="7" name="Freeform 7"/>
            <p:cNvSpPr/>
            <p:nvPr/>
          </p:nvSpPr>
          <p:spPr>
            <a:xfrm>
              <a:off x="0" y="0"/>
              <a:ext cx="364471" cy="246925"/>
            </a:xfrm>
            <a:custGeom>
              <a:avLst/>
              <a:gdLst/>
              <a:ahLst/>
              <a:cxnLst/>
              <a:rect l="l" t="t" r="r" b="b"/>
              <a:pathLst>
                <a:path w="364471" h="246925">
                  <a:moveTo>
                    <a:pt x="0" y="0"/>
                  </a:moveTo>
                  <a:lnTo>
                    <a:pt x="364471" y="0"/>
                  </a:lnTo>
                  <a:lnTo>
                    <a:pt x="364471" y="246925"/>
                  </a:lnTo>
                  <a:lnTo>
                    <a:pt x="0" y="246925"/>
                  </a:lnTo>
                  <a:close/>
                </a:path>
              </a:pathLst>
            </a:custGeom>
            <a:solidFill>
              <a:srgbClr val="B0A695"/>
            </a:solidFill>
          </p:spPr>
          <p:txBody>
            <a:bodyPr/>
            <a:lstStyle/>
            <a:p>
              <a:endParaRPr lang="en-US"/>
            </a:p>
          </p:txBody>
        </p:sp>
        <p:sp>
          <p:nvSpPr>
            <p:cNvPr id="8" name="TextBox 8"/>
            <p:cNvSpPr txBox="1"/>
            <p:nvPr/>
          </p:nvSpPr>
          <p:spPr>
            <a:xfrm>
              <a:off x="0" y="-66675"/>
              <a:ext cx="364471" cy="313600"/>
            </a:xfrm>
            <a:prstGeom prst="rect">
              <a:avLst/>
            </a:prstGeom>
          </p:spPr>
          <p:txBody>
            <a:bodyPr lIns="50800" tIns="50800" rIns="50800" bIns="50800" rtlCol="0" anchor="ctr"/>
            <a:lstStyle/>
            <a:p>
              <a:pPr algn="ctr">
                <a:lnSpc>
                  <a:spcPts val="3640"/>
                </a:lnSpc>
              </a:pPr>
              <a:r>
                <a:rPr lang="en-US" sz="2600" b="1" spc="260">
                  <a:solidFill>
                    <a:srgbClr val="000000"/>
                  </a:solidFill>
                  <a:latin typeface="Arimo Bold"/>
                  <a:ea typeface="Arimo Bold"/>
                  <a:cs typeface="Arimo Bold"/>
                  <a:sym typeface="Arimo Bold"/>
                </a:rPr>
                <a:t>40%</a:t>
              </a:r>
            </a:p>
          </p:txBody>
        </p:sp>
      </p:grpSp>
      <p:grpSp>
        <p:nvGrpSpPr>
          <p:cNvPr id="9" name="Group 9"/>
          <p:cNvGrpSpPr/>
          <p:nvPr/>
        </p:nvGrpSpPr>
        <p:grpSpPr>
          <a:xfrm>
            <a:off x="8183832" y="6017537"/>
            <a:ext cx="1294087" cy="876731"/>
            <a:chOff x="0" y="0"/>
            <a:chExt cx="364471" cy="246925"/>
          </a:xfrm>
        </p:grpSpPr>
        <p:sp>
          <p:nvSpPr>
            <p:cNvPr id="10" name="Freeform 10"/>
            <p:cNvSpPr/>
            <p:nvPr/>
          </p:nvSpPr>
          <p:spPr>
            <a:xfrm>
              <a:off x="0" y="0"/>
              <a:ext cx="364471" cy="246925"/>
            </a:xfrm>
            <a:custGeom>
              <a:avLst/>
              <a:gdLst/>
              <a:ahLst/>
              <a:cxnLst/>
              <a:rect l="l" t="t" r="r" b="b"/>
              <a:pathLst>
                <a:path w="364471" h="246925">
                  <a:moveTo>
                    <a:pt x="0" y="0"/>
                  </a:moveTo>
                  <a:lnTo>
                    <a:pt x="364471" y="0"/>
                  </a:lnTo>
                  <a:lnTo>
                    <a:pt x="364471" y="246925"/>
                  </a:lnTo>
                  <a:lnTo>
                    <a:pt x="0" y="246925"/>
                  </a:lnTo>
                  <a:close/>
                </a:path>
              </a:pathLst>
            </a:custGeom>
            <a:solidFill>
              <a:srgbClr val="B0A695"/>
            </a:solidFill>
          </p:spPr>
          <p:txBody>
            <a:bodyPr/>
            <a:lstStyle/>
            <a:p>
              <a:endParaRPr lang="en-US"/>
            </a:p>
          </p:txBody>
        </p:sp>
        <p:sp>
          <p:nvSpPr>
            <p:cNvPr id="11" name="TextBox 11"/>
            <p:cNvSpPr txBox="1"/>
            <p:nvPr/>
          </p:nvSpPr>
          <p:spPr>
            <a:xfrm>
              <a:off x="0" y="-66675"/>
              <a:ext cx="364471" cy="313600"/>
            </a:xfrm>
            <a:prstGeom prst="rect">
              <a:avLst/>
            </a:prstGeom>
          </p:spPr>
          <p:txBody>
            <a:bodyPr lIns="50800" tIns="50800" rIns="50800" bIns="50800" rtlCol="0" anchor="ctr"/>
            <a:lstStyle/>
            <a:p>
              <a:pPr algn="ctr">
                <a:lnSpc>
                  <a:spcPts val="3640"/>
                </a:lnSpc>
              </a:pPr>
              <a:r>
                <a:rPr lang="en-US" sz="2600" b="1" spc="260">
                  <a:solidFill>
                    <a:srgbClr val="000000"/>
                  </a:solidFill>
                  <a:latin typeface="Arimo Bold"/>
                  <a:ea typeface="Arimo Bold"/>
                  <a:cs typeface="Arimo Bold"/>
                  <a:sym typeface="Arimo Bold"/>
                </a:rPr>
                <a:t>30%</a:t>
              </a:r>
            </a:p>
          </p:txBody>
        </p:sp>
      </p:grpSp>
      <p:grpSp>
        <p:nvGrpSpPr>
          <p:cNvPr id="12" name="Group 12"/>
          <p:cNvGrpSpPr/>
          <p:nvPr/>
        </p:nvGrpSpPr>
        <p:grpSpPr>
          <a:xfrm>
            <a:off x="1890889" y="6017537"/>
            <a:ext cx="6174380" cy="876731"/>
            <a:chOff x="0" y="0"/>
            <a:chExt cx="1738971" cy="246925"/>
          </a:xfrm>
        </p:grpSpPr>
        <p:sp>
          <p:nvSpPr>
            <p:cNvPr id="13" name="Freeform 13"/>
            <p:cNvSpPr/>
            <p:nvPr/>
          </p:nvSpPr>
          <p:spPr>
            <a:xfrm>
              <a:off x="0" y="0"/>
              <a:ext cx="1738971" cy="246925"/>
            </a:xfrm>
            <a:custGeom>
              <a:avLst/>
              <a:gdLst/>
              <a:ahLst/>
              <a:cxnLst/>
              <a:rect l="l" t="t" r="r" b="b"/>
              <a:pathLst>
                <a:path w="1738971" h="246925">
                  <a:moveTo>
                    <a:pt x="0" y="0"/>
                  </a:moveTo>
                  <a:lnTo>
                    <a:pt x="1738971" y="0"/>
                  </a:lnTo>
                  <a:lnTo>
                    <a:pt x="1738971" y="246925"/>
                  </a:lnTo>
                  <a:lnTo>
                    <a:pt x="0" y="246925"/>
                  </a:lnTo>
                  <a:close/>
                </a:path>
              </a:pathLst>
            </a:custGeom>
            <a:solidFill>
              <a:srgbClr val="C00303"/>
            </a:solidFill>
          </p:spPr>
          <p:txBody>
            <a:bodyPr/>
            <a:lstStyle/>
            <a:p>
              <a:endParaRPr lang="en-US"/>
            </a:p>
          </p:txBody>
        </p:sp>
        <p:sp>
          <p:nvSpPr>
            <p:cNvPr id="14" name="TextBox 14"/>
            <p:cNvSpPr txBox="1"/>
            <p:nvPr/>
          </p:nvSpPr>
          <p:spPr>
            <a:xfrm>
              <a:off x="0" y="-66675"/>
              <a:ext cx="1738971"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Marketing and Sales</a:t>
              </a:r>
            </a:p>
          </p:txBody>
        </p:sp>
      </p:grpSp>
      <p:grpSp>
        <p:nvGrpSpPr>
          <p:cNvPr id="15" name="Group 15"/>
          <p:cNvGrpSpPr/>
          <p:nvPr/>
        </p:nvGrpSpPr>
        <p:grpSpPr>
          <a:xfrm>
            <a:off x="1890889" y="7072102"/>
            <a:ext cx="6174380" cy="876731"/>
            <a:chOff x="0" y="0"/>
            <a:chExt cx="1738971" cy="246925"/>
          </a:xfrm>
        </p:grpSpPr>
        <p:sp>
          <p:nvSpPr>
            <p:cNvPr id="16" name="Freeform 16"/>
            <p:cNvSpPr/>
            <p:nvPr/>
          </p:nvSpPr>
          <p:spPr>
            <a:xfrm>
              <a:off x="0" y="0"/>
              <a:ext cx="1738971" cy="246925"/>
            </a:xfrm>
            <a:custGeom>
              <a:avLst/>
              <a:gdLst/>
              <a:ahLst/>
              <a:cxnLst/>
              <a:rect l="l" t="t" r="r" b="b"/>
              <a:pathLst>
                <a:path w="1738971" h="246925">
                  <a:moveTo>
                    <a:pt x="0" y="0"/>
                  </a:moveTo>
                  <a:lnTo>
                    <a:pt x="1738971" y="0"/>
                  </a:lnTo>
                  <a:lnTo>
                    <a:pt x="1738971" y="246925"/>
                  </a:lnTo>
                  <a:lnTo>
                    <a:pt x="0" y="246925"/>
                  </a:lnTo>
                  <a:close/>
                </a:path>
              </a:pathLst>
            </a:custGeom>
            <a:solidFill>
              <a:srgbClr val="C00303"/>
            </a:solidFill>
          </p:spPr>
          <p:txBody>
            <a:bodyPr/>
            <a:lstStyle/>
            <a:p>
              <a:endParaRPr lang="en-US"/>
            </a:p>
          </p:txBody>
        </p:sp>
        <p:sp>
          <p:nvSpPr>
            <p:cNvPr id="17" name="TextBox 17"/>
            <p:cNvSpPr txBox="1"/>
            <p:nvPr/>
          </p:nvSpPr>
          <p:spPr>
            <a:xfrm>
              <a:off x="0" y="-66675"/>
              <a:ext cx="1738971"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Infrastructure and Operations</a:t>
              </a:r>
            </a:p>
          </p:txBody>
        </p:sp>
      </p:grpSp>
      <p:grpSp>
        <p:nvGrpSpPr>
          <p:cNvPr id="18" name="Group 18"/>
          <p:cNvGrpSpPr/>
          <p:nvPr/>
        </p:nvGrpSpPr>
        <p:grpSpPr>
          <a:xfrm>
            <a:off x="1890889" y="8126977"/>
            <a:ext cx="6174380" cy="876731"/>
            <a:chOff x="0" y="0"/>
            <a:chExt cx="1738971" cy="246925"/>
          </a:xfrm>
        </p:grpSpPr>
        <p:sp>
          <p:nvSpPr>
            <p:cNvPr id="19" name="Freeform 19"/>
            <p:cNvSpPr/>
            <p:nvPr/>
          </p:nvSpPr>
          <p:spPr>
            <a:xfrm>
              <a:off x="0" y="0"/>
              <a:ext cx="1738971" cy="246925"/>
            </a:xfrm>
            <a:custGeom>
              <a:avLst/>
              <a:gdLst/>
              <a:ahLst/>
              <a:cxnLst/>
              <a:rect l="l" t="t" r="r" b="b"/>
              <a:pathLst>
                <a:path w="1738971" h="246925">
                  <a:moveTo>
                    <a:pt x="0" y="0"/>
                  </a:moveTo>
                  <a:lnTo>
                    <a:pt x="1738971" y="0"/>
                  </a:lnTo>
                  <a:lnTo>
                    <a:pt x="1738971" y="246925"/>
                  </a:lnTo>
                  <a:lnTo>
                    <a:pt x="0" y="246925"/>
                  </a:lnTo>
                  <a:close/>
                </a:path>
              </a:pathLst>
            </a:custGeom>
            <a:solidFill>
              <a:srgbClr val="C00303"/>
            </a:solidFill>
          </p:spPr>
          <p:txBody>
            <a:bodyPr/>
            <a:lstStyle/>
            <a:p>
              <a:endParaRPr lang="en-US"/>
            </a:p>
          </p:txBody>
        </p:sp>
        <p:sp>
          <p:nvSpPr>
            <p:cNvPr id="20" name="TextBox 20"/>
            <p:cNvSpPr txBox="1"/>
            <p:nvPr/>
          </p:nvSpPr>
          <p:spPr>
            <a:xfrm>
              <a:off x="0" y="-66675"/>
              <a:ext cx="1738971" cy="313600"/>
            </a:xfrm>
            <a:prstGeom prst="rect">
              <a:avLst/>
            </a:prstGeom>
          </p:spPr>
          <p:txBody>
            <a:bodyPr lIns="50800" tIns="50800" rIns="50800" bIns="50800" rtlCol="0" anchor="ctr"/>
            <a:lstStyle/>
            <a:p>
              <a:pPr algn="ctr">
                <a:lnSpc>
                  <a:spcPts val="3220"/>
                </a:lnSpc>
              </a:pPr>
              <a:r>
                <a:rPr lang="en-US" sz="2300" b="1" spc="230">
                  <a:solidFill>
                    <a:srgbClr val="FFFFFF"/>
                  </a:solidFill>
                  <a:latin typeface="Arimo Bold"/>
                  <a:ea typeface="Arimo Bold"/>
                  <a:cs typeface="Arimo Bold"/>
                  <a:sym typeface="Arimo Bold"/>
                </a:rPr>
                <a:t>Expansion and Growth Initiatives</a:t>
              </a:r>
            </a:p>
          </p:txBody>
        </p:sp>
      </p:grpSp>
      <p:grpSp>
        <p:nvGrpSpPr>
          <p:cNvPr id="21" name="Group 21"/>
          <p:cNvGrpSpPr/>
          <p:nvPr/>
        </p:nvGrpSpPr>
        <p:grpSpPr>
          <a:xfrm>
            <a:off x="8183832" y="7072102"/>
            <a:ext cx="1294087" cy="876731"/>
            <a:chOff x="0" y="0"/>
            <a:chExt cx="364471" cy="246925"/>
          </a:xfrm>
        </p:grpSpPr>
        <p:sp>
          <p:nvSpPr>
            <p:cNvPr id="22" name="Freeform 22"/>
            <p:cNvSpPr/>
            <p:nvPr/>
          </p:nvSpPr>
          <p:spPr>
            <a:xfrm>
              <a:off x="0" y="0"/>
              <a:ext cx="364471" cy="246925"/>
            </a:xfrm>
            <a:custGeom>
              <a:avLst/>
              <a:gdLst/>
              <a:ahLst/>
              <a:cxnLst/>
              <a:rect l="l" t="t" r="r" b="b"/>
              <a:pathLst>
                <a:path w="364471" h="246925">
                  <a:moveTo>
                    <a:pt x="0" y="0"/>
                  </a:moveTo>
                  <a:lnTo>
                    <a:pt x="364471" y="0"/>
                  </a:lnTo>
                  <a:lnTo>
                    <a:pt x="364471" y="246925"/>
                  </a:lnTo>
                  <a:lnTo>
                    <a:pt x="0" y="246925"/>
                  </a:lnTo>
                  <a:close/>
                </a:path>
              </a:pathLst>
            </a:custGeom>
            <a:solidFill>
              <a:srgbClr val="B0A695"/>
            </a:solidFill>
          </p:spPr>
          <p:txBody>
            <a:bodyPr/>
            <a:lstStyle/>
            <a:p>
              <a:endParaRPr lang="en-US"/>
            </a:p>
          </p:txBody>
        </p:sp>
        <p:sp>
          <p:nvSpPr>
            <p:cNvPr id="23" name="TextBox 23"/>
            <p:cNvSpPr txBox="1"/>
            <p:nvPr/>
          </p:nvSpPr>
          <p:spPr>
            <a:xfrm>
              <a:off x="0" y="-66675"/>
              <a:ext cx="364471" cy="313600"/>
            </a:xfrm>
            <a:prstGeom prst="rect">
              <a:avLst/>
            </a:prstGeom>
          </p:spPr>
          <p:txBody>
            <a:bodyPr lIns="50800" tIns="50800" rIns="50800" bIns="50800" rtlCol="0" anchor="ctr"/>
            <a:lstStyle/>
            <a:p>
              <a:pPr algn="ctr">
                <a:lnSpc>
                  <a:spcPts val="3640"/>
                </a:lnSpc>
              </a:pPr>
              <a:r>
                <a:rPr lang="en-US" sz="2600" b="1" spc="260">
                  <a:solidFill>
                    <a:srgbClr val="000000"/>
                  </a:solidFill>
                  <a:latin typeface="Arimo Bold"/>
                  <a:ea typeface="Arimo Bold"/>
                  <a:cs typeface="Arimo Bold"/>
                  <a:sym typeface="Arimo Bold"/>
                </a:rPr>
                <a:t>20%</a:t>
              </a:r>
            </a:p>
          </p:txBody>
        </p:sp>
      </p:grpSp>
      <p:grpSp>
        <p:nvGrpSpPr>
          <p:cNvPr id="24" name="Group 24"/>
          <p:cNvGrpSpPr/>
          <p:nvPr/>
        </p:nvGrpSpPr>
        <p:grpSpPr>
          <a:xfrm>
            <a:off x="8183832" y="8126977"/>
            <a:ext cx="1294087" cy="876731"/>
            <a:chOff x="0" y="0"/>
            <a:chExt cx="364471" cy="246925"/>
          </a:xfrm>
        </p:grpSpPr>
        <p:sp>
          <p:nvSpPr>
            <p:cNvPr id="25" name="Freeform 25"/>
            <p:cNvSpPr/>
            <p:nvPr/>
          </p:nvSpPr>
          <p:spPr>
            <a:xfrm>
              <a:off x="0" y="0"/>
              <a:ext cx="364471" cy="246925"/>
            </a:xfrm>
            <a:custGeom>
              <a:avLst/>
              <a:gdLst/>
              <a:ahLst/>
              <a:cxnLst/>
              <a:rect l="l" t="t" r="r" b="b"/>
              <a:pathLst>
                <a:path w="364471" h="246925">
                  <a:moveTo>
                    <a:pt x="0" y="0"/>
                  </a:moveTo>
                  <a:lnTo>
                    <a:pt x="364471" y="0"/>
                  </a:lnTo>
                  <a:lnTo>
                    <a:pt x="364471" y="246925"/>
                  </a:lnTo>
                  <a:lnTo>
                    <a:pt x="0" y="246925"/>
                  </a:lnTo>
                  <a:close/>
                </a:path>
              </a:pathLst>
            </a:custGeom>
            <a:solidFill>
              <a:srgbClr val="B0A695"/>
            </a:solidFill>
          </p:spPr>
          <p:txBody>
            <a:bodyPr/>
            <a:lstStyle/>
            <a:p>
              <a:endParaRPr lang="en-US"/>
            </a:p>
          </p:txBody>
        </p:sp>
        <p:sp>
          <p:nvSpPr>
            <p:cNvPr id="26" name="TextBox 26"/>
            <p:cNvSpPr txBox="1"/>
            <p:nvPr/>
          </p:nvSpPr>
          <p:spPr>
            <a:xfrm>
              <a:off x="0" y="-66675"/>
              <a:ext cx="364471" cy="313600"/>
            </a:xfrm>
            <a:prstGeom prst="rect">
              <a:avLst/>
            </a:prstGeom>
          </p:spPr>
          <p:txBody>
            <a:bodyPr lIns="50800" tIns="50800" rIns="50800" bIns="50800" rtlCol="0" anchor="ctr"/>
            <a:lstStyle/>
            <a:p>
              <a:pPr algn="ctr">
                <a:lnSpc>
                  <a:spcPts val="3640"/>
                </a:lnSpc>
              </a:pPr>
              <a:r>
                <a:rPr lang="en-US" sz="2600" b="1" spc="260">
                  <a:solidFill>
                    <a:srgbClr val="000000"/>
                  </a:solidFill>
                  <a:latin typeface="Arimo Bold"/>
                  <a:ea typeface="Arimo Bold"/>
                  <a:cs typeface="Arimo Bold"/>
                  <a:sym typeface="Arimo Bold"/>
                </a:rPr>
                <a:t>10%</a:t>
              </a:r>
            </a:p>
          </p:txBody>
        </p:sp>
      </p:grpSp>
      <p:sp>
        <p:nvSpPr>
          <p:cNvPr id="27" name="AutoShape 27"/>
          <p:cNvSpPr/>
          <p:nvPr/>
        </p:nvSpPr>
        <p:spPr>
          <a:xfrm flipH="1" flipV="1">
            <a:off x="729251" y="0"/>
            <a:ext cx="0" cy="2335379"/>
          </a:xfrm>
          <a:prstGeom prst="line">
            <a:avLst/>
          </a:prstGeom>
          <a:ln w="38100" cap="flat">
            <a:solidFill>
              <a:srgbClr val="C00303"/>
            </a:solidFill>
            <a:prstDash val="solid"/>
            <a:headEnd type="oval" w="lg" len="lg"/>
            <a:tailEnd type="none" w="sm" len="sm"/>
          </a:ln>
        </p:spPr>
        <p:txBody>
          <a:bodyPr/>
          <a:lstStyle/>
          <a:p>
            <a:endParaRPr lang="en-US"/>
          </a:p>
        </p:txBody>
      </p:sp>
      <p:pic>
        <p:nvPicPr>
          <p:cNvPr id="28" name="Picture 28"/>
          <p:cNvPicPr>
            <a:picLocks noChangeAspect="1"/>
          </p:cNvPicPr>
          <p:nvPr/>
        </p:nvPicPr>
        <p:blipFill>
          <a:blip r:embed="rId4"/>
          <a:stretch>
            <a:fillRect/>
          </a:stretch>
        </p:blipFill>
        <p:spPr>
          <a:xfrm>
            <a:off x="11419011" y="4153335"/>
            <a:ext cx="5768999" cy="5690324"/>
          </a:xfrm>
          <a:prstGeom prst="rect">
            <a:avLst/>
          </a:prstGeom>
        </p:spPr>
      </p:pic>
      <p:sp>
        <p:nvSpPr>
          <p:cNvPr id="29" name="TextBox 29"/>
          <p:cNvSpPr txBox="1"/>
          <p:nvPr/>
        </p:nvSpPr>
        <p:spPr>
          <a:xfrm>
            <a:off x="1028700" y="1039979"/>
            <a:ext cx="16510999" cy="1295400"/>
          </a:xfrm>
          <a:prstGeom prst="rect">
            <a:avLst/>
          </a:prstGeom>
        </p:spPr>
        <p:txBody>
          <a:bodyPr lIns="0" tIns="0" rIns="0" bIns="0" rtlCol="0" anchor="t">
            <a:spAutoFit/>
          </a:bodyPr>
          <a:lstStyle/>
          <a:p>
            <a:pPr algn="l">
              <a:lnSpc>
                <a:spcPts val="9900"/>
              </a:lnSpc>
            </a:pPr>
            <a:r>
              <a:rPr lang="en-US" sz="9000">
                <a:solidFill>
                  <a:srgbClr val="000000"/>
                </a:solidFill>
                <a:latin typeface="Archive"/>
                <a:ea typeface="Archive"/>
                <a:cs typeface="Archive"/>
                <a:sym typeface="Archive"/>
              </a:rPr>
              <a:t>USE OF FUNDS</a:t>
            </a:r>
          </a:p>
        </p:txBody>
      </p:sp>
      <p:sp>
        <p:nvSpPr>
          <p:cNvPr id="30" name="TextBox 30"/>
          <p:cNvSpPr txBox="1"/>
          <p:nvPr/>
        </p:nvSpPr>
        <p:spPr>
          <a:xfrm>
            <a:off x="1028700" y="2515780"/>
            <a:ext cx="16510999" cy="1889759"/>
          </a:xfrm>
          <a:prstGeom prst="rect">
            <a:avLst/>
          </a:prstGeom>
        </p:spPr>
        <p:txBody>
          <a:bodyPr lIns="0" tIns="0" rIns="0" bIns="0" rtlCol="0" anchor="t">
            <a:spAutoFit/>
          </a:bodyPr>
          <a:lstStyle/>
          <a:p>
            <a:pPr algn="just">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Our plan for using funds generated from investors is straightforward. We'll allocate 40% towards further developing our products, ensuring they stay competitive and meet customer needs. 30% will go into marketing and sales efforts to attract new customers and drive revenue growth. 20% will be invested in infrastructure and operations to support our expanding business and improve efficiency. Finally, 10% will be set aside for strategic initiatives like market expansion and partnerships to fuel long-term growth.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40454"/>
            <a:ext cx="10002722" cy="11767908"/>
          </a:xfrm>
          <a:custGeom>
            <a:avLst/>
            <a:gdLst/>
            <a:ahLst/>
            <a:cxnLst/>
            <a:rect l="l" t="t" r="r" b="b"/>
            <a:pathLst>
              <a:path w="10002722" h="11767908">
                <a:moveTo>
                  <a:pt x="0" y="0"/>
                </a:moveTo>
                <a:lnTo>
                  <a:pt x="10002722" y="0"/>
                </a:lnTo>
                <a:lnTo>
                  <a:pt x="10002722" y="11767908"/>
                </a:lnTo>
                <a:lnTo>
                  <a:pt x="0" y="117679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684628" y="732654"/>
            <a:ext cx="574672" cy="804248"/>
          </a:xfrm>
          <a:custGeom>
            <a:avLst/>
            <a:gdLst/>
            <a:ahLst/>
            <a:cxnLst/>
            <a:rect l="l" t="t" r="r" b="b"/>
            <a:pathLst>
              <a:path w="574672" h="804248">
                <a:moveTo>
                  <a:pt x="0" y="0"/>
                </a:moveTo>
                <a:lnTo>
                  <a:pt x="574672" y="0"/>
                </a:lnTo>
                <a:lnTo>
                  <a:pt x="574672" y="804248"/>
                </a:lnTo>
                <a:lnTo>
                  <a:pt x="0" y="8042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5314126" y="4030948"/>
            <a:ext cx="11945174" cy="1714500"/>
          </a:xfrm>
          <a:prstGeom prst="rect">
            <a:avLst/>
          </a:prstGeom>
        </p:spPr>
        <p:txBody>
          <a:bodyPr lIns="0" tIns="0" rIns="0" bIns="0" rtlCol="0" anchor="t">
            <a:spAutoFit/>
          </a:bodyPr>
          <a:lstStyle/>
          <a:p>
            <a:pPr algn="l">
              <a:lnSpc>
                <a:spcPts val="13200"/>
              </a:lnSpc>
            </a:pPr>
            <a:r>
              <a:rPr lang="en-US" sz="12000">
                <a:solidFill>
                  <a:srgbClr val="000000"/>
                </a:solidFill>
                <a:latin typeface="Archive"/>
                <a:ea typeface="Archive"/>
                <a:cs typeface="Archive"/>
                <a:sym typeface="Archive"/>
              </a:rPr>
              <a:t>THANK YOU</a:t>
            </a:r>
          </a:p>
        </p:txBody>
      </p:sp>
      <p:sp>
        <p:nvSpPr>
          <p:cNvPr id="5" name="TextBox 5"/>
          <p:cNvSpPr txBox="1"/>
          <p:nvPr/>
        </p:nvSpPr>
        <p:spPr>
          <a:xfrm>
            <a:off x="5314126" y="5886864"/>
            <a:ext cx="11945174" cy="753111"/>
          </a:xfrm>
          <a:prstGeom prst="rect">
            <a:avLst/>
          </a:prstGeom>
        </p:spPr>
        <p:txBody>
          <a:bodyPr lIns="0" tIns="0" rIns="0" bIns="0" rtlCol="0" anchor="t">
            <a:spAutoFit/>
          </a:bodyPr>
          <a:lstStyle/>
          <a:p>
            <a:pPr algn="l">
              <a:lnSpc>
                <a:spcPts val="5830"/>
              </a:lnSpc>
            </a:pPr>
            <a:r>
              <a:rPr lang="en-US" sz="5300">
                <a:solidFill>
                  <a:srgbClr val="000000"/>
                </a:solidFill>
                <a:latin typeface="Archive"/>
                <a:ea typeface="Archive"/>
                <a:cs typeface="Archive"/>
                <a:sym typeface="Archive"/>
              </a:rPr>
              <a:t>FOR YOUR TIME AND ATTENTION</a:t>
            </a:r>
          </a:p>
        </p:txBody>
      </p:sp>
      <p:sp>
        <p:nvSpPr>
          <p:cNvPr id="6" name="TextBox 6"/>
          <p:cNvSpPr txBox="1"/>
          <p:nvPr/>
        </p:nvSpPr>
        <p:spPr>
          <a:xfrm>
            <a:off x="12668730" y="834423"/>
            <a:ext cx="3862062" cy="495935"/>
          </a:xfrm>
          <a:prstGeom prst="rect">
            <a:avLst/>
          </a:prstGeom>
        </p:spPr>
        <p:txBody>
          <a:bodyPr lIns="0" tIns="0" rIns="0" bIns="0" rtlCol="0" anchor="t">
            <a:spAutoFit/>
          </a:bodyPr>
          <a:lstStyle/>
          <a:p>
            <a:pPr algn="r">
              <a:lnSpc>
                <a:spcPts val="3640"/>
              </a:lnSpc>
              <a:spcBef>
                <a:spcPct val="0"/>
              </a:spcBef>
            </a:pPr>
            <a:r>
              <a:rPr lang="en-US" sz="2600" spc="260">
                <a:solidFill>
                  <a:srgbClr val="000000"/>
                </a:solidFill>
                <a:latin typeface="Gabriel Sans Condensed"/>
                <a:ea typeface="Gabriel Sans Condensed"/>
                <a:cs typeface="Gabriel Sans Condensed"/>
                <a:sym typeface="Gabriel Sans Condensed"/>
              </a:rPr>
              <a:t>Ingoude Company</a:t>
            </a:r>
          </a:p>
        </p:txBody>
      </p:sp>
      <p:sp>
        <p:nvSpPr>
          <p:cNvPr id="7" name="TextBox 7"/>
          <p:cNvSpPr txBox="1"/>
          <p:nvPr/>
        </p:nvSpPr>
        <p:spPr>
          <a:xfrm>
            <a:off x="5314126" y="6611400"/>
            <a:ext cx="11945174" cy="588010"/>
          </a:xfrm>
          <a:prstGeom prst="rect">
            <a:avLst/>
          </a:prstGeom>
        </p:spPr>
        <p:txBody>
          <a:bodyPr lIns="0" tIns="0" rIns="0" bIns="0" rtlCol="0" anchor="t">
            <a:spAutoFit/>
          </a:bodyPr>
          <a:lstStyle/>
          <a:p>
            <a:pPr algn="l">
              <a:lnSpc>
                <a:spcPts val="4339"/>
              </a:lnSpc>
              <a:spcBef>
                <a:spcPct val="0"/>
              </a:spcBef>
            </a:pPr>
            <a:r>
              <a:rPr lang="en-US" sz="3099" b="1" spc="309">
                <a:solidFill>
                  <a:srgbClr val="000000"/>
                </a:solidFill>
                <a:latin typeface="Gabriel Sans Bold"/>
                <a:ea typeface="Gabriel Sans Bold"/>
                <a:cs typeface="Gabriel Sans Bold"/>
                <a:sym typeface="Gabriel Sans Bold"/>
              </a:rPr>
              <a:t>Present by Neil Tran </a:t>
            </a:r>
          </a:p>
        </p:txBody>
      </p:sp>
      <p:sp>
        <p:nvSpPr>
          <p:cNvPr id="8" name="TextBox 8"/>
          <p:cNvSpPr txBox="1"/>
          <p:nvPr/>
        </p:nvSpPr>
        <p:spPr>
          <a:xfrm>
            <a:off x="10913922" y="8098293"/>
            <a:ext cx="6058042" cy="403859"/>
          </a:xfrm>
          <a:prstGeom prst="rect">
            <a:avLst/>
          </a:prstGeom>
        </p:spPr>
        <p:txBody>
          <a:bodyPr lIns="0" tIns="0" rIns="0" bIns="0" rtlCol="0" anchor="t">
            <a:spAutoFit/>
          </a:bodyPr>
          <a:lstStyle/>
          <a:p>
            <a:pPr algn="r">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www.reallygreatsite.com </a:t>
            </a:r>
          </a:p>
        </p:txBody>
      </p:sp>
      <p:sp>
        <p:nvSpPr>
          <p:cNvPr id="9" name="TextBox 9"/>
          <p:cNvSpPr txBox="1"/>
          <p:nvPr/>
        </p:nvSpPr>
        <p:spPr>
          <a:xfrm>
            <a:off x="10913922" y="8624390"/>
            <a:ext cx="6058042" cy="403859"/>
          </a:xfrm>
          <a:prstGeom prst="rect">
            <a:avLst/>
          </a:prstGeom>
        </p:spPr>
        <p:txBody>
          <a:bodyPr lIns="0" tIns="0" rIns="0" bIns="0" rtlCol="0" anchor="t">
            <a:spAutoFit/>
          </a:bodyPr>
          <a:lstStyle/>
          <a:p>
            <a:pPr algn="r">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hello@reallygreatsite.com</a:t>
            </a:r>
          </a:p>
        </p:txBody>
      </p:sp>
      <p:sp>
        <p:nvSpPr>
          <p:cNvPr id="10" name="TextBox 10"/>
          <p:cNvSpPr txBox="1"/>
          <p:nvPr/>
        </p:nvSpPr>
        <p:spPr>
          <a:xfrm>
            <a:off x="10913922" y="9150487"/>
            <a:ext cx="6058042" cy="403859"/>
          </a:xfrm>
          <a:prstGeom prst="rect">
            <a:avLst/>
          </a:prstGeom>
        </p:spPr>
        <p:txBody>
          <a:bodyPr lIns="0" tIns="0" rIns="0" bIns="0" rtlCol="0" anchor="t">
            <a:spAutoFit/>
          </a:bodyPr>
          <a:lstStyle/>
          <a:p>
            <a:pPr algn="r">
              <a:lnSpc>
                <a:spcPts val="2940"/>
              </a:lnSpc>
              <a:spcBef>
                <a:spcPct val="0"/>
              </a:spcBef>
            </a:pPr>
            <a:r>
              <a:rPr lang="en-US" sz="2100" spc="210">
                <a:solidFill>
                  <a:srgbClr val="000000"/>
                </a:solidFill>
                <a:latin typeface="Gabriel Sans Condensed"/>
                <a:ea typeface="Gabriel Sans Condensed"/>
                <a:cs typeface="Gabriel Sans Condensed"/>
                <a:sym typeface="Gabriel Sans Condensed"/>
              </a:rPr>
              <a:t>123 Anywhere Street., Any City</a:t>
            </a:r>
          </a:p>
        </p:txBody>
      </p:sp>
      <p:sp>
        <p:nvSpPr>
          <p:cNvPr id="11" name="AutoShape 11"/>
          <p:cNvSpPr/>
          <p:nvPr/>
        </p:nvSpPr>
        <p:spPr>
          <a:xfrm>
            <a:off x="17287875" y="7562621"/>
            <a:ext cx="0" cy="2724379"/>
          </a:xfrm>
          <a:prstGeom prst="line">
            <a:avLst/>
          </a:prstGeom>
          <a:ln w="38100" cap="flat">
            <a:solidFill>
              <a:srgbClr val="C00303"/>
            </a:solidFill>
            <a:prstDash val="solid"/>
            <a:headEnd type="oval" w="lg" len="lg"/>
            <a:tailEnd type="none" w="sm" len="sm"/>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38FF7272A15F4DA651704CC179C222" ma:contentTypeVersion="21" ma:contentTypeDescription="Create a new document." ma:contentTypeScope="" ma:versionID="45a71c02550ece1178e86c10b03bcf16">
  <xsd:schema xmlns:xsd="http://www.w3.org/2001/XMLSchema" xmlns:xs="http://www.w3.org/2001/XMLSchema" xmlns:p="http://schemas.microsoft.com/office/2006/metadata/properties" xmlns:ns2="875ca35f-1f90-42d7-be22-1f1827475124" xmlns:ns3="4b8d6291-7d3a-47fb-9464-827e5a8f3469" targetNamespace="http://schemas.microsoft.com/office/2006/metadata/properties" ma:root="true" ma:fieldsID="fa944e05b38c0b1301a43c7dee086532" ns2:_="" ns3:_="">
    <xsd:import namespace="875ca35f-1f90-42d7-be22-1f1827475124"/>
    <xsd:import namespace="4b8d6291-7d3a-47fb-9464-827e5a8f3469"/>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Location" minOccurs="0"/>
                <xsd:element ref="ns2:FileOrigi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5ca35f-1f90-42d7-be22-1f18274751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4a10208-d7fa-491d-867d-77e07dc86e14" ma:termSetId="09814cd3-568e-fe90-9814-8d621ff8fb84" ma:anchorId="fba54fb3-c3e1-fe81-a776-ca4b69148c4d" ma:open="true" ma:isKeyword="false">
      <xsd:complexType>
        <xsd:sequence>
          <xsd:element ref="pc:Terms" minOccurs="0" maxOccurs="1"/>
        </xsd:sequence>
      </xsd:complexType>
    </xsd:element>
    <xsd:element name="MediaServiceLocation" ma:index="22" nillable="true" ma:displayName="Location" ma:internalName="MediaServiceLocation" ma:readOnly="true">
      <xsd:simpleType>
        <xsd:restriction base="dms:Text"/>
      </xsd:simpleType>
    </xsd:element>
    <xsd:element name="FileOrigin" ma:index="23" nillable="true" ma:displayName="File Origin" ma:format="Dropdown" ma:internalName="FileOrigin">
      <xsd:simpleType>
        <xsd:restriction base="dms:Note">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8d6291-7d3a-47fb-9464-827e5a8f3469"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20bf44d7-3b6f-4e32-b037-7e1ec2e19881}" ma:internalName="TaxCatchAll" ma:showField="CatchAllData" ma:web="4b8d6291-7d3a-47fb-9464-827e5a8f34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ileOrigin xmlns="875ca35f-1f90-42d7-be22-1f1827475124" xsi:nil="true"/>
    <TaxCatchAll xmlns="4b8d6291-7d3a-47fb-9464-827e5a8f3469" xsi:nil="true"/>
    <lcf76f155ced4ddcb4097134ff3c332f xmlns="875ca35f-1f90-42d7-be22-1f182747512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4782956-41A7-4DE7-A62B-40578232F323}"/>
</file>

<file path=customXml/itemProps2.xml><?xml version="1.0" encoding="utf-8"?>
<ds:datastoreItem xmlns:ds="http://schemas.openxmlformats.org/officeDocument/2006/customXml" ds:itemID="{E1C5B092-E77F-4462-B0EE-C6AAF273E19D}"/>
</file>

<file path=customXml/itemProps3.xml><?xml version="1.0" encoding="utf-8"?>
<ds:datastoreItem xmlns:ds="http://schemas.openxmlformats.org/officeDocument/2006/customXml" ds:itemID="{50634AFE-57E7-4EF6-BCBF-13A1761521AC}"/>
</file>

<file path=docProps/app.xml><?xml version="1.0" encoding="utf-8"?>
<Properties xmlns="http://schemas.openxmlformats.org/officeDocument/2006/extended-properties" xmlns:vt="http://schemas.openxmlformats.org/officeDocument/2006/docPropsVTypes">
  <TotalTime>1</TotalTime>
  <Words>1105</Words>
  <Application>Microsoft Office PowerPoint</Application>
  <PresentationFormat>Custom</PresentationFormat>
  <Paragraphs>157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Archive</vt:lpstr>
      <vt:lpstr>Arimo Bold</vt:lpstr>
      <vt:lpstr>Gabriel Sans Condensed</vt:lpstr>
      <vt:lpstr>Arimo</vt:lpstr>
      <vt:lpstr>Calibri</vt:lpstr>
      <vt:lpstr>Gabriel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 Pitch Idea</dc:title>
  <cp:lastModifiedBy>Shalamova, Nadya</cp:lastModifiedBy>
  <cp:revision>1</cp:revision>
  <dcterms:created xsi:type="dcterms:W3CDTF">2006-08-16T00:00:00Z</dcterms:created>
  <dcterms:modified xsi:type="dcterms:W3CDTF">2025-10-31T13:51:54Z</dcterms:modified>
  <dc:identifier>DAG3XffrZZE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0x0101001738FF7272A15F4DA651704CC179C222</vt:lpwstr>
  </property>
</Properties>
</file>